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304" r:id="rId5"/>
    <p:sldId id="287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286" r:id="rId24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  <p15:guide id="17" pos="3341" userDrawn="1">
          <p15:clr>
            <a:srgbClr val="A4A3A4"/>
          </p15:clr>
        </p15:guide>
        <p15:guide id="18" orient="horz" pos="1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D69"/>
    <a:srgbClr val="029C63"/>
    <a:srgbClr val="96628C"/>
    <a:srgbClr val="11A0D7"/>
    <a:srgbClr val="E61F3D"/>
    <a:srgbClr val="CD5A5A"/>
    <a:srgbClr val="FFD746"/>
    <a:srgbClr val="0E2D69"/>
    <a:srgbClr val="D9D9D9"/>
    <a:srgbClr val="EB68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1"/>
    <p:restoredTop sz="82977"/>
  </p:normalViewPr>
  <p:slideViewPr>
    <p:cSldViewPr snapToGrid="0" snapToObjects="1">
      <p:cViewPr varScale="1">
        <p:scale>
          <a:sx n="99" d="100"/>
          <a:sy n="99" d="100"/>
        </p:scale>
        <p:origin x="1568" y="168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  <p:guide pos="3341"/>
        <p:guide orient="horz" pos="10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6/26/26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Здравствуйте</a:t>
            </a:r>
            <a:r>
              <a:rPr lang="en-US" dirty="0"/>
              <a:t>! Меня </a:t>
            </a:r>
            <a:r>
              <a:rPr lang="en-US" dirty="0" err="1"/>
              <a:t>зовут</a:t>
            </a:r>
            <a:r>
              <a:rPr lang="en-US" dirty="0"/>
              <a:t> Александр Пак. Тема </a:t>
            </a:r>
            <a:r>
              <a:rPr lang="en-US" dirty="0" err="1"/>
              <a:t>моей</a:t>
            </a:r>
            <a:r>
              <a:rPr lang="en-US" dirty="0"/>
              <a:t> </a:t>
            </a:r>
            <a:r>
              <a:rPr lang="en-US" dirty="0" err="1"/>
              <a:t>курсовой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— </a:t>
            </a:r>
            <a:r>
              <a:rPr lang="en-US" dirty="0" err="1"/>
              <a:t>интерпретируемость</a:t>
            </a:r>
            <a:r>
              <a:rPr lang="en-US" dirty="0"/>
              <a:t> </a:t>
            </a:r>
            <a:r>
              <a:rPr lang="en-US" dirty="0" err="1"/>
              <a:t>больших</a:t>
            </a:r>
            <a:r>
              <a:rPr lang="en-US" dirty="0"/>
              <a:t> </a:t>
            </a:r>
            <a:r>
              <a:rPr lang="en-US" dirty="0" err="1"/>
              <a:t>языковых</a:t>
            </a:r>
            <a:r>
              <a:rPr lang="en-US" dirty="0"/>
              <a:t> </a:t>
            </a:r>
            <a:r>
              <a:rPr lang="en-US" dirty="0" err="1"/>
              <a:t>моделей</a:t>
            </a:r>
            <a:r>
              <a:rPr lang="en-US" dirty="0"/>
              <a:t>.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теоретической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я</a:t>
            </a:r>
            <a:r>
              <a:rPr lang="en-US" dirty="0"/>
              <a:t> </a:t>
            </a:r>
            <a:r>
              <a:rPr lang="en-US" dirty="0" err="1"/>
              <a:t>разбираю</a:t>
            </a:r>
            <a:r>
              <a:rPr lang="en-US" dirty="0"/>
              <a:t> </a:t>
            </a:r>
            <a:r>
              <a:rPr lang="en-US" dirty="0" err="1"/>
              <a:t>механистическую</a:t>
            </a:r>
            <a:r>
              <a:rPr lang="en-US" dirty="0"/>
              <a:t> </a:t>
            </a:r>
            <a:r>
              <a:rPr lang="en-US" dirty="0" err="1"/>
              <a:t>интерпретируемость</a:t>
            </a:r>
            <a:r>
              <a:rPr lang="en-US" dirty="0"/>
              <a:t>: </a:t>
            </a:r>
            <a:r>
              <a:rPr lang="en-US" dirty="0" err="1"/>
              <a:t>гипотезу</a:t>
            </a:r>
            <a:r>
              <a:rPr lang="en-US" dirty="0"/>
              <a:t> </a:t>
            </a:r>
            <a:r>
              <a:rPr lang="en-US" dirty="0" err="1"/>
              <a:t>суперпозиции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разреженные</a:t>
            </a:r>
            <a:r>
              <a:rPr lang="en-US" dirty="0"/>
              <a:t> </a:t>
            </a:r>
            <a:r>
              <a:rPr lang="en-US" dirty="0" err="1"/>
              <a:t>автоэнкодеры</a:t>
            </a:r>
            <a:r>
              <a:rPr lang="en-US" dirty="0"/>
              <a:t>.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практической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воспроизвожу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открытой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Qwen3-1.7B. </a:t>
            </a:r>
            <a:r>
              <a:rPr lang="en-US" dirty="0" err="1"/>
              <a:t>Научный</a:t>
            </a:r>
            <a:r>
              <a:rPr lang="en-US" dirty="0"/>
              <a:t> </a:t>
            </a:r>
            <a:r>
              <a:rPr lang="en-US" dirty="0" err="1"/>
              <a:t>руководитель</a:t>
            </a:r>
            <a:r>
              <a:rPr lang="en-US" dirty="0"/>
              <a:t> — </a:t>
            </a:r>
            <a:r>
              <a:rPr lang="en-US" dirty="0" err="1"/>
              <a:t>Виктория</a:t>
            </a:r>
            <a:r>
              <a:rPr lang="en-US" dirty="0"/>
              <a:t> </a:t>
            </a:r>
            <a:r>
              <a:rPr lang="en-US" dirty="0" err="1"/>
              <a:t>Сергеевна</a:t>
            </a:r>
            <a:r>
              <a:rPr lang="en-US" dirty="0"/>
              <a:t> </a:t>
            </a:r>
            <a:r>
              <a:rPr lang="en-US" dirty="0" err="1"/>
              <a:t>Мунькина</a:t>
            </a:r>
            <a:r>
              <a:rPr lang="ru-RU" dirty="0"/>
              <a:t> 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8196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Большие </a:t>
            </a:r>
            <a:r>
              <a:rPr lang="en-US" dirty="0" err="1"/>
              <a:t>языковые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пишут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отвечают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обобщают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всей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пол</a:t>
            </a:r>
            <a:r>
              <a:rPr lang="ru-RU" dirty="0" err="1"/>
              <a:t>ьзе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«</a:t>
            </a:r>
            <a:r>
              <a:rPr lang="en-US" dirty="0" err="1"/>
              <a:t>чёрным</a:t>
            </a:r>
            <a:r>
              <a:rPr lang="en-US" dirty="0"/>
              <a:t> </a:t>
            </a:r>
            <a:r>
              <a:rPr lang="en-US" dirty="0" err="1"/>
              <a:t>ящиком</a:t>
            </a:r>
            <a:r>
              <a:rPr lang="en-US" dirty="0"/>
              <a:t>»: </a:t>
            </a:r>
            <a:r>
              <a:rPr lang="en-US" dirty="0" err="1"/>
              <a:t>внутренние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</a:t>
            </a:r>
            <a:r>
              <a:rPr lang="en-US" dirty="0" err="1"/>
              <a:t>распределены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миллиардами</a:t>
            </a:r>
            <a:r>
              <a:rPr lang="en-US" dirty="0"/>
              <a:t> </a:t>
            </a:r>
            <a:r>
              <a:rPr lang="en-US" dirty="0" err="1"/>
              <a:t>параметров</a:t>
            </a:r>
            <a:r>
              <a:rPr lang="en-US" dirty="0"/>
              <a:t>,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трудно</a:t>
            </a:r>
            <a:r>
              <a:rPr lang="en-US" dirty="0"/>
              <a:t> </a:t>
            </a:r>
            <a:r>
              <a:rPr lang="en-US" dirty="0" err="1"/>
              <a:t>объяснить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нейронов</a:t>
            </a:r>
            <a:r>
              <a:rPr lang="en-US" dirty="0"/>
              <a:t>. Это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критично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безопасности</a:t>
            </a:r>
            <a:r>
              <a:rPr lang="en-US" dirty="0"/>
              <a:t> —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реальном</a:t>
            </a:r>
            <a:r>
              <a:rPr lang="en-US" dirty="0"/>
              <a:t> </a:t>
            </a:r>
            <a:r>
              <a:rPr lang="en-US" dirty="0" err="1"/>
              <a:t>продукте</a:t>
            </a:r>
            <a:r>
              <a:rPr lang="en-US" dirty="0"/>
              <a:t>, </a:t>
            </a:r>
            <a:r>
              <a:rPr lang="en-US" dirty="0" err="1"/>
              <a:t>недостаточно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точность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тестах</a:t>
            </a:r>
            <a:r>
              <a:rPr lang="en-US" dirty="0"/>
              <a:t>. Нужно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внутренние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обнаружить</a:t>
            </a:r>
            <a:r>
              <a:rPr lang="en-US" dirty="0"/>
              <a:t> </a:t>
            </a:r>
            <a:r>
              <a:rPr lang="en-US" dirty="0" err="1"/>
              <a:t>нежелательное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08618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Цель </a:t>
            </a:r>
            <a:r>
              <a:rPr lang="en-US" dirty="0" err="1"/>
              <a:t>работы</a:t>
            </a:r>
            <a:r>
              <a:rPr lang="en-US" dirty="0"/>
              <a:t> — </a:t>
            </a:r>
            <a:r>
              <a:rPr lang="en-US" dirty="0" err="1"/>
              <a:t>проанализировать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механистической</a:t>
            </a:r>
            <a:r>
              <a:rPr lang="en-US" dirty="0"/>
              <a:t> </a:t>
            </a:r>
            <a:r>
              <a:rPr lang="en-US" dirty="0" err="1"/>
              <a:t>интерпретируемости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воспроизвести</a:t>
            </a:r>
            <a:r>
              <a:rPr lang="en-US" dirty="0"/>
              <a:t>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этапы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разреженными</a:t>
            </a:r>
            <a:r>
              <a:rPr lang="en-US" dirty="0"/>
              <a:t> </a:t>
            </a:r>
            <a:r>
              <a:rPr lang="en-US" dirty="0" err="1"/>
              <a:t>автоэнкодерами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открытой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 Для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я</a:t>
            </a:r>
            <a:r>
              <a:rPr lang="en-US" dirty="0"/>
              <a:t> </a:t>
            </a:r>
            <a:r>
              <a:rPr lang="en-US" dirty="0" err="1"/>
              <a:t>поставил</a:t>
            </a:r>
            <a:r>
              <a:rPr lang="en-US" dirty="0"/>
              <a:t> </a:t>
            </a:r>
            <a:r>
              <a:rPr lang="en-US" dirty="0" err="1"/>
              <a:t>шесть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: </a:t>
            </a:r>
            <a:r>
              <a:rPr lang="en-US" dirty="0" err="1"/>
              <a:t>разобрать</a:t>
            </a:r>
            <a:r>
              <a:rPr lang="en-US" dirty="0"/>
              <a:t> </a:t>
            </a:r>
            <a:r>
              <a:rPr lang="en-US" dirty="0" err="1"/>
              <a:t>теорию</a:t>
            </a:r>
            <a:r>
              <a:rPr lang="en-US" dirty="0"/>
              <a:t> — </a:t>
            </a:r>
            <a:r>
              <a:rPr lang="en-US" dirty="0" err="1"/>
              <a:t>суперпозицию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полисемантичность</a:t>
            </a:r>
            <a:r>
              <a:rPr lang="en-US" dirty="0"/>
              <a:t>; </a:t>
            </a:r>
            <a:r>
              <a:rPr lang="en-US" dirty="0" err="1"/>
              <a:t>изучить</a:t>
            </a:r>
            <a:r>
              <a:rPr lang="en-US" dirty="0"/>
              <a:t> SAE; </a:t>
            </a:r>
            <a:r>
              <a:rPr lang="en-US" dirty="0" err="1"/>
              <a:t>проанализировать</a:t>
            </a:r>
            <a:r>
              <a:rPr lang="en-US" dirty="0"/>
              <a:t> </a:t>
            </a:r>
            <a:r>
              <a:rPr lang="en-US" dirty="0" err="1"/>
              <a:t>масштабирование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крупные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связь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безопасностью</a:t>
            </a:r>
            <a:r>
              <a:rPr lang="en-US" dirty="0"/>
              <a:t>.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практические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: </a:t>
            </a:r>
            <a:r>
              <a:rPr lang="en-US" dirty="0" err="1"/>
              <a:t>собрать</a:t>
            </a:r>
            <a:r>
              <a:rPr lang="en-US" dirty="0"/>
              <a:t> </a:t>
            </a:r>
            <a:r>
              <a:rPr lang="en-US" dirty="0" err="1"/>
              <a:t>активации</a:t>
            </a:r>
            <a:r>
              <a:rPr lang="en-US" dirty="0"/>
              <a:t> Qwen, </a:t>
            </a:r>
            <a:r>
              <a:rPr lang="en-US" dirty="0" err="1"/>
              <a:t>обучить</a:t>
            </a:r>
            <a:r>
              <a:rPr lang="en-US" dirty="0"/>
              <a:t> SAE, </a:t>
            </a:r>
            <a:r>
              <a:rPr lang="en-US" dirty="0" err="1"/>
              <a:t>оценить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метрикам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feature steering.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09771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Начну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базовых</a:t>
            </a:r>
            <a:r>
              <a:rPr lang="en-US" dirty="0"/>
              <a:t> </a:t>
            </a:r>
            <a:r>
              <a:rPr lang="en-US" dirty="0" err="1"/>
              <a:t>понятий</a:t>
            </a:r>
            <a:r>
              <a:rPr lang="en-US" dirty="0"/>
              <a:t>. </a:t>
            </a:r>
            <a:r>
              <a:rPr lang="en-US" dirty="0" err="1"/>
              <a:t>Признак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нейрон</a:t>
            </a:r>
            <a:r>
              <a:rPr lang="en-US" dirty="0"/>
              <a:t>, </a:t>
            </a:r>
            <a:r>
              <a:rPr lang="en-US" dirty="0" err="1"/>
              <a:t>а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пространстве</a:t>
            </a:r>
            <a:r>
              <a:rPr lang="en-US" dirty="0"/>
              <a:t> </a:t>
            </a:r>
            <a:r>
              <a:rPr lang="en-US" dirty="0" err="1"/>
              <a:t>активаций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; </a:t>
            </a:r>
            <a:r>
              <a:rPr lang="en-US" dirty="0" err="1"/>
              <a:t>фундаментальная</a:t>
            </a:r>
            <a:r>
              <a:rPr lang="en-US" dirty="0"/>
              <a:t> </a:t>
            </a:r>
            <a:r>
              <a:rPr lang="en-US" dirty="0" err="1"/>
              <a:t>единица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сеть</a:t>
            </a:r>
            <a:r>
              <a:rPr lang="en-US" dirty="0"/>
              <a:t> </a:t>
            </a:r>
            <a:r>
              <a:rPr lang="en-US" dirty="0" err="1"/>
              <a:t>выучивает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идеальном</a:t>
            </a:r>
            <a:r>
              <a:rPr lang="en-US" dirty="0"/>
              <a:t> </a:t>
            </a:r>
            <a:r>
              <a:rPr lang="en-US" dirty="0" err="1"/>
              <a:t>мире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нейрон</a:t>
            </a:r>
            <a:r>
              <a:rPr lang="en-US" dirty="0"/>
              <a:t> </a:t>
            </a:r>
            <a:r>
              <a:rPr lang="en-US" dirty="0" err="1"/>
              <a:t>соответствовал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признаку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</a:t>
            </a:r>
            <a:r>
              <a:rPr lang="en-US" dirty="0" err="1"/>
              <a:t>моносемантичностью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 </a:t>
            </a:r>
            <a:r>
              <a:rPr lang="en-US" dirty="0" err="1"/>
              <a:t>нейроны</a:t>
            </a:r>
            <a:r>
              <a:rPr lang="en-US" dirty="0"/>
              <a:t> </a:t>
            </a:r>
            <a:r>
              <a:rPr lang="en-US" dirty="0" err="1"/>
              <a:t>полисемантичны</a:t>
            </a:r>
            <a:r>
              <a:rPr lang="en-US" dirty="0"/>
              <a:t>: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нейрон</a:t>
            </a:r>
            <a:r>
              <a:rPr lang="en-US" dirty="0"/>
              <a:t> </a:t>
            </a:r>
            <a:r>
              <a:rPr lang="en-US" dirty="0" err="1"/>
              <a:t>активируется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несвязанные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упоминание</a:t>
            </a:r>
            <a:r>
              <a:rPr lang="en-US" dirty="0"/>
              <a:t> </a:t>
            </a:r>
            <a:r>
              <a:rPr lang="en-US" dirty="0" err="1"/>
              <a:t>стихов</a:t>
            </a:r>
            <a:r>
              <a:rPr lang="en-US" dirty="0"/>
              <a:t>, </a:t>
            </a:r>
            <a:r>
              <a:rPr lang="en-US" dirty="0" err="1"/>
              <a:t>арабские</a:t>
            </a:r>
            <a:r>
              <a:rPr lang="en-US" dirty="0"/>
              <a:t> </a:t>
            </a:r>
            <a:r>
              <a:rPr lang="en-US" dirty="0" err="1"/>
              <a:t>символы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фрагменты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полисемантичность</a:t>
            </a:r>
            <a:r>
              <a:rPr lang="en-US" dirty="0"/>
              <a:t> </a:t>
            </a:r>
            <a:r>
              <a:rPr lang="en-US" dirty="0" err="1"/>
              <a:t>мешает</a:t>
            </a:r>
            <a:r>
              <a:rPr lang="en-US" dirty="0"/>
              <a:t> </a:t>
            </a:r>
            <a:r>
              <a:rPr lang="en-US" dirty="0" err="1"/>
              <a:t>интерпретировать</a:t>
            </a:r>
            <a:r>
              <a:rPr lang="en-US" dirty="0"/>
              <a:t> </a:t>
            </a:r>
            <a:r>
              <a:rPr lang="en-US" dirty="0" err="1"/>
              <a:t>сеть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82961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Почему </a:t>
            </a:r>
            <a:r>
              <a:rPr lang="en-US" dirty="0" err="1"/>
              <a:t>нейроны</a:t>
            </a:r>
            <a:r>
              <a:rPr lang="en-US" dirty="0"/>
              <a:t> </a:t>
            </a:r>
            <a:r>
              <a:rPr lang="en-US" dirty="0" err="1"/>
              <a:t>полисемантичны</a:t>
            </a:r>
            <a:r>
              <a:rPr lang="en-US" dirty="0"/>
              <a:t>? Это </a:t>
            </a:r>
            <a:r>
              <a:rPr lang="en-US" dirty="0" err="1"/>
              <a:t>объясняет</a:t>
            </a:r>
            <a:r>
              <a:rPr lang="en-US" dirty="0"/>
              <a:t> </a:t>
            </a:r>
            <a:r>
              <a:rPr lang="en-US" dirty="0" err="1"/>
              <a:t>гипотеза</a:t>
            </a:r>
            <a:r>
              <a:rPr lang="en-US" dirty="0"/>
              <a:t> </a:t>
            </a:r>
            <a:r>
              <a:rPr lang="en-US" dirty="0" err="1"/>
              <a:t>суперпозиции</a:t>
            </a:r>
            <a:r>
              <a:rPr lang="en-US" dirty="0"/>
              <a:t> — </a:t>
            </a:r>
            <a:r>
              <a:rPr lang="en-US" dirty="0" err="1"/>
              <a:t>центральная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всей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 </a:t>
            </a:r>
            <a:r>
              <a:rPr lang="en-US" dirty="0" err="1"/>
              <a:t>Признак</a:t>
            </a:r>
            <a:r>
              <a:rPr lang="ru-RU" dirty="0"/>
              <a:t>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сеть</a:t>
            </a:r>
            <a:r>
              <a:rPr lang="en-US" dirty="0"/>
              <a:t> </a:t>
            </a:r>
            <a:r>
              <a:rPr lang="en-US" dirty="0" err="1"/>
              <a:t>выучивает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у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нейронов</a:t>
            </a:r>
            <a:r>
              <a:rPr lang="en-US" dirty="0"/>
              <a:t>. Сеть «</a:t>
            </a:r>
            <a:r>
              <a:rPr lang="en-US" dirty="0" err="1"/>
              <a:t>упаковывает</a:t>
            </a:r>
            <a:r>
              <a:rPr lang="en-US" dirty="0"/>
              <a:t>» </a:t>
            </a:r>
            <a:r>
              <a:rPr lang="en-US" dirty="0" err="1"/>
              <a:t>признаки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ru-RU" dirty="0"/>
              <a:t> небольшое кол-во нейронов</a:t>
            </a:r>
            <a:r>
              <a:rPr lang="en-US" dirty="0"/>
              <a:t>. </a:t>
            </a:r>
            <a:r>
              <a:rPr lang="ru-RU" dirty="0"/>
              <a:t>Так </a:t>
            </a:r>
            <a:r>
              <a:rPr lang="ru-RU" dirty="0" err="1"/>
              <a:t>антропиа</a:t>
            </a:r>
            <a:r>
              <a:rPr lang="ru-RU" dirty="0"/>
              <a:t> в</a:t>
            </a:r>
            <a:r>
              <a:rPr lang="en-US" dirty="0"/>
              <a:t> </a:t>
            </a:r>
            <a:r>
              <a:rPr lang="en-US" dirty="0" err="1"/>
              <a:t>игрушечной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показывают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 </a:t>
            </a:r>
            <a:r>
              <a:rPr lang="en-US" dirty="0" err="1"/>
              <a:t>входных</a:t>
            </a:r>
            <a:r>
              <a:rPr lang="en-US" dirty="0"/>
              <a:t> </a:t>
            </a:r>
            <a:r>
              <a:rPr lang="en-US" dirty="0" err="1"/>
              <a:t>признаков</a:t>
            </a:r>
            <a:r>
              <a:rPr lang="en-US" dirty="0"/>
              <a:t> </a:t>
            </a:r>
            <a:r>
              <a:rPr lang="en-US" dirty="0" err="1"/>
              <a:t>сжимают</a:t>
            </a:r>
            <a:r>
              <a:rPr lang="ru-RU" dirty="0" err="1"/>
              <a:t>ся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 </a:t>
            </a:r>
            <a:r>
              <a:rPr lang="en-US" dirty="0" err="1"/>
              <a:t>меньшее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нейронов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восстанавливаются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. Когда </a:t>
            </a:r>
            <a:r>
              <a:rPr lang="en-US" dirty="0" err="1"/>
              <a:t>признаков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нейронов</a:t>
            </a:r>
            <a:r>
              <a:rPr lang="en-US" dirty="0"/>
              <a:t>,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вынуждена</a:t>
            </a:r>
            <a:r>
              <a:rPr lang="en-US" dirty="0"/>
              <a:t> </a:t>
            </a:r>
            <a:r>
              <a:rPr lang="en-US" dirty="0" err="1"/>
              <a:t>совмещать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признаков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одних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нейронах</a:t>
            </a:r>
            <a:r>
              <a:rPr lang="en-US" dirty="0"/>
              <a:t> — </a:t>
            </a:r>
            <a:r>
              <a:rPr lang="en-US" dirty="0" err="1"/>
              <a:t>отсюда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полисемантичность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24977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91872-3233-A145-73FA-43ACD6D38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0948B66-4D16-46CC-B4C8-4364AF851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669997D-389D-EEB0-F28F-140FCD0A4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 </a:t>
            </a:r>
            <a:r>
              <a:rPr lang="en-US" dirty="0" err="1"/>
              <a:t>нейроны</a:t>
            </a:r>
            <a:r>
              <a:rPr lang="en-US" dirty="0"/>
              <a:t> </a:t>
            </a:r>
            <a:r>
              <a:rPr lang="en-US" dirty="0" err="1"/>
              <a:t>полисемантичны</a:t>
            </a:r>
            <a:r>
              <a:rPr lang="en-US" dirty="0"/>
              <a:t>,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«</a:t>
            </a:r>
            <a:r>
              <a:rPr lang="en-US" dirty="0" err="1"/>
              <a:t>распутает</a:t>
            </a:r>
            <a:r>
              <a:rPr lang="en-US" dirty="0"/>
              <a:t>» </a:t>
            </a:r>
            <a:r>
              <a:rPr lang="en-US" dirty="0" err="1"/>
              <a:t>суперпозицию</a:t>
            </a:r>
            <a:r>
              <a:rPr lang="en-US" dirty="0"/>
              <a:t>. Таким </a:t>
            </a:r>
            <a:r>
              <a:rPr lang="en-US" dirty="0" err="1"/>
              <a:t>инструментом</a:t>
            </a:r>
            <a:r>
              <a:rPr lang="en-US" dirty="0"/>
              <a:t> </a:t>
            </a:r>
            <a:r>
              <a:rPr lang="en-US" dirty="0" err="1"/>
              <a:t>стали</a:t>
            </a:r>
            <a:r>
              <a:rPr lang="en-US" dirty="0"/>
              <a:t> </a:t>
            </a:r>
            <a:r>
              <a:rPr lang="en-US" dirty="0" err="1"/>
              <a:t>разреженные</a:t>
            </a:r>
            <a:r>
              <a:rPr lang="en-US" dirty="0"/>
              <a:t> </a:t>
            </a:r>
            <a:r>
              <a:rPr lang="en-US" dirty="0" err="1"/>
              <a:t>автоэнкодеры</a:t>
            </a:r>
            <a:r>
              <a:rPr lang="en-US" dirty="0"/>
              <a:t>. </a:t>
            </a:r>
            <a:r>
              <a:rPr lang="en-US" dirty="0" err="1"/>
              <a:t>Идея</a:t>
            </a:r>
            <a:r>
              <a:rPr lang="en-US" dirty="0"/>
              <a:t>: </a:t>
            </a:r>
            <a:r>
              <a:rPr lang="en-US" dirty="0" err="1"/>
              <a:t>взять</a:t>
            </a:r>
            <a:r>
              <a:rPr lang="en-US" dirty="0"/>
              <a:t> </a:t>
            </a:r>
            <a:r>
              <a:rPr lang="en-US" dirty="0" err="1"/>
              <a:t>активации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слоя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выход</a:t>
            </a:r>
            <a:r>
              <a:rPr lang="en-US" dirty="0"/>
              <a:t> MLP —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разложить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разреженный</a:t>
            </a:r>
            <a:r>
              <a:rPr lang="en-US" dirty="0"/>
              <a:t>, </a:t>
            </a:r>
            <a:r>
              <a:rPr lang="en-US" dirty="0" err="1"/>
              <a:t>избыточный</a:t>
            </a:r>
            <a:r>
              <a:rPr lang="en-US" dirty="0"/>
              <a:t> </a:t>
            </a:r>
            <a:r>
              <a:rPr lang="en-US" dirty="0" err="1"/>
              <a:t>словарь</a:t>
            </a:r>
            <a:r>
              <a:rPr lang="en-US" dirty="0"/>
              <a:t> </a:t>
            </a:r>
            <a:r>
              <a:rPr lang="en-US" dirty="0" err="1"/>
              <a:t>признаков</a:t>
            </a:r>
            <a:r>
              <a:rPr lang="en-US" dirty="0"/>
              <a:t>.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пятисот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лишним</a:t>
            </a:r>
            <a:r>
              <a:rPr lang="en-US" dirty="0"/>
              <a:t> </a:t>
            </a:r>
            <a:r>
              <a:rPr lang="en-US" dirty="0" err="1"/>
              <a:t>измерений</a:t>
            </a:r>
            <a:r>
              <a:rPr lang="en-US" dirty="0"/>
              <a:t> </a:t>
            </a:r>
            <a:r>
              <a:rPr lang="en-US" dirty="0" err="1"/>
              <a:t>активаций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переходим</a:t>
            </a:r>
            <a:r>
              <a:rPr lang="en-US" dirty="0"/>
              <a:t> </a:t>
            </a:r>
            <a:r>
              <a:rPr lang="en-US" dirty="0" err="1"/>
              <a:t>к</a:t>
            </a:r>
            <a:r>
              <a:rPr lang="en-US" dirty="0"/>
              <a:t> </a:t>
            </a:r>
            <a:r>
              <a:rPr lang="en-US" dirty="0" err="1"/>
              <a:t>десяткам</a:t>
            </a:r>
            <a:r>
              <a:rPr lang="en-US" dirty="0"/>
              <a:t> </a:t>
            </a:r>
            <a:r>
              <a:rPr lang="en-US" dirty="0" err="1"/>
              <a:t>тысяч</a:t>
            </a:r>
            <a:r>
              <a:rPr lang="en-US" dirty="0"/>
              <a:t> </a:t>
            </a:r>
            <a:r>
              <a:rPr lang="en-US" dirty="0" err="1"/>
              <a:t>признаков</a:t>
            </a:r>
            <a:r>
              <a:rPr lang="en-US" dirty="0"/>
              <a:t>,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dirty="0" err="1"/>
              <a:t>токене</a:t>
            </a:r>
            <a:r>
              <a:rPr lang="en-US" dirty="0"/>
              <a:t> </a:t>
            </a:r>
            <a:r>
              <a:rPr lang="en-US" dirty="0" err="1"/>
              <a:t>активны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немногие</a:t>
            </a:r>
            <a:r>
              <a:rPr lang="en-US" dirty="0"/>
              <a:t>. </a:t>
            </a:r>
            <a:r>
              <a:rPr lang="en-US" dirty="0" err="1"/>
              <a:t>Цель</a:t>
            </a:r>
            <a:r>
              <a:rPr lang="en-US" dirty="0"/>
              <a:t> —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 </a:t>
            </a:r>
            <a:r>
              <a:rPr lang="en-US" dirty="0" err="1"/>
              <a:t>оказались</a:t>
            </a:r>
            <a:r>
              <a:rPr lang="en-US" dirty="0"/>
              <a:t> </a:t>
            </a:r>
            <a:r>
              <a:rPr lang="en-US" dirty="0" err="1"/>
              <a:t>моносемантическими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понятными</a:t>
            </a:r>
            <a:r>
              <a:rPr lang="en-US" dirty="0"/>
              <a:t> </a:t>
            </a:r>
            <a:r>
              <a:rPr lang="en-US" dirty="0" err="1"/>
              <a:t>человеку</a:t>
            </a:r>
            <a:r>
              <a:rPr lang="en-US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5834AE-EB0C-2C07-68F9-9B8FD6D0B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582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0FEEF-5F3D-82DA-41D9-6A486EBED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EF58E6-F029-703A-FA6F-E97BE2289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A0AD06E-35E7-272D-5A99-552F0D9D9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Устройство</a:t>
            </a:r>
            <a:r>
              <a:rPr lang="en-US" dirty="0"/>
              <a:t> SAE </a:t>
            </a:r>
            <a:r>
              <a:rPr lang="en-US" dirty="0" err="1"/>
              <a:t>простое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энкодер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декодер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общим</a:t>
            </a:r>
            <a:r>
              <a:rPr lang="en-US" dirty="0"/>
              <a:t> </a:t>
            </a:r>
            <a:r>
              <a:rPr lang="en-US" dirty="0" err="1"/>
              <a:t>скрытым</a:t>
            </a:r>
            <a:r>
              <a:rPr lang="en-US" dirty="0"/>
              <a:t> </a:t>
            </a:r>
            <a:r>
              <a:rPr lang="en-US" dirty="0" err="1"/>
              <a:t>пространством</a:t>
            </a:r>
            <a:r>
              <a:rPr lang="ru-RU" dirty="0"/>
              <a:t>, которое и описывает наши признаки.</a:t>
            </a:r>
            <a:r>
              <a:rPr lang="en-US" dirty="0"/>
              <a:t> Энкодер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вектор</a:t>
            </a:r>
            <a:r>
              <a:rPr lang="en-US" dirty="0"/>
              <a:t> </a:t>
            </a:r>
            <a:r>
              <a:rPr lang="en-US" dirty="0" err="1"/>
              <a:t>активаций</a:t>
            </a:r>
            <a:r>
              <a:rPr lang="en-US" dirty="0"/>
              <a:t> x, </a:t>
            </a:r>
            <a:r>
              <a:rPr lang="en-US" dirty="0" err="1"/>
              <a:t>умножает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матрицу</a:t>
            </a:r>
            <a:r>
              <a:rPr lang="en-US" dirty="0"/>
              <a:t> </a:t>
            </a:r>
            <a:r>
              <a:rPr lang="en-US" dirty="0" err="1"/>
              <a:t>весов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применяет</a:t>
            </a:r>
            <a:r>
              <a:rPr lang="en-US" dirty="0"/>
              <a:t> </a:t>
            </a:r>
            <a:r>
              <a:rPr lang="en-US" dirty="0" err="1"/>
              <a:t>ReLU</a:t>
            </a:r>
            <a:r>
              <a:rPr lang="ru-RU" dirty="0"/>
              <a:t> (для приведения к </a:t>
            </a:r>
            <a:r>
              <a:rPr lang="ru-RU" dirty="0" err="1"/>
              <a:t>привелегированному</a:t>
            </a:r>
            <a:r>
              <a:rPr lang="ru-RU" dirty="0"/>
              <a:t> базису и </a:t>
            </a:r>
            <a:r>
              <a:rPr lang="ru-RU" dirty="0" err="1"/>
              <a:t>моносемантичности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en-US" dirty="0" err="1"/>
              <a:t>ReLU</a:t>
            </a:r>
            <a:r>
              <a:rPr lang="en-US" dirty="0"/>
              <a:t> </a:t>
            </a:r>
            <a:r>
              <a:rPr lang="en-US" dirty="0" err="1"/>
              <a:t>обнуляет</a:t>
            </a:r>
            <a:r>
              <a:rPr lang="en-US" dirty="0"/>
              <a:t> </a:t>
            </a:r>
            <a:r>
              <a:rPr lang="en-US" dirty="0" err="1"/>
              <a:t>отрицательные</a:t>
            </a:r>
            <a:r>
              <a:rPr lang="en-US" dirty="0"/>
              <a:t> </a:t>
            </a:r>
            <a:r>
              <a:rPr lang="en-US" dirty="0" err="1"/>
              <a:t>активации</a:t>
            </a:r>
            <a:r>
              <a:rPr lang="en-US" dirty="0"/>
              <a:t>, </a:t>
            </a:r>
            <a:r>
              <a:rPr lang="en-US" dirty="0" err="1"/>
              <a:t>обеспечивая</a:t>
            </a:r>
            <a:r>
              <a:rPr lang="en-US" dirty="0"/>
              <a:t> </a:t>
            </a:r>
            <a:r>
              <a:rPr lang="en-US" dirty="0" err="1"/>
              <a:t>неотрицательность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разреженность</a:t>
            </a:r>
            <a:r>
              <a:rPr lang="en-US" dirty="0"/>
              <a:t> —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восстановлении</a:t>
            </a:r>
            <a:r>
              <a:rPr lang="en-US" dirty="0"/>
              <a:t> </a:t>
            </a:r>
            <a:r>
              <a:rPr lang="en-US" dirty="0" err="1"/>
              <a:t>участвует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признаков</a:t>
            </a:r>
            <a:r>
              <a:rPr lang="en-US" dirty="0"/>
              <a:t>.— </a:t>
            </a:r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dirty="0" err="1"/>
              <a:t>вектор</a:t>
            </a:r>
            <a:r>
              <a:rPr lang="en-US" dirty="0"/>
              <a:t> </a:t>
            </a:r>
            <a:r>
              <a:rPr lang="en-US" dirty="0" err="1"/>
              <a:t>активаций</a:t>
            </a:r>
            <a:r>
              <a:rPr lang="en-US" dirty="0"/>
              <a:t> </a:t>
            </a:r>
            <a:r>
              <a:rPr lang="en-US" dirty="0" err="1"/>
              <a:t>признаков</a:t>
            </a:r>
            <a:r>
              <a:rPr lang="en-US" dirty="0"/>
              <a:t>. Декодер </a:t>
            </a:r>
            <a:r>
              <a:rPr lang="en-US" dirty="0" err="1"/>
              <a:t>восстанавливает</a:t>
            </a:r>
            <a:r>
              <a:rPr lang="en-US" dirty="0"/>
              <a:t> </a:t>
            </a:r>
            <a:r>
              <a:rPr lang="en-US" dirty="0" err="1"/>
              <a:t>исходный</a:t>
            </a:r>
            <a:r>
              <a:rPr lang="en-US" dirty="0"/>
              <a:t> </a:t>
            </a:r>
            <a:r>
              <a:rPr lang="en-US" dirty="0" err="1"/>
              <a:t>вектор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активных</a:t>
            </a:r>
            <a:r>
              <a:rPr lang="en-US" dirty="0"/>
              <a:t> </a:t>
            </a:r>
            <a:r>
              <a:rPr lang="en-US" dirty="0" err="1"/>
              <a:t>признаков</a:t>
            </a:r>
            <a:r>
              <a:rPr lang="en-US" dirty="0"/>
              <a:t>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B9C6E8-E9F5-71F5-147F-91A5D8411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49402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E6AA-7656-0EC7-A817-27E31C6A1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642FC35-AD6B-CB9A-C57C-87A2DDC9F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4CB80EC-1271-2F3D-4D0C-C52A30F81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SAE </a:t>
            </a:r>
            <a:r>
              <a:rPr lang="en-US" dirty="0" err="1"/>
              <a:t>обучается</a:t>
            </a:r>
            <a:r>
              <a:rPr lang="en-US" dirty="0"/>
              <a:t> </a:t>
            </a:r>
            <a:r>
              <a:rPr lang="en-US" dirty="0" err="1"/>
              <a:t>минимизировать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 </a:t>
            </a:r>
            <a:r>
              <a:rPr lang="en-US" dirty="0" err="1"/>
              <a:t>потерь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: </a:t>
            </a:r>
            <a:r>
              <a:rPr lang="en-US" dirty="0" err="1"/>
              <a:t>ошибка</a:t>
            </a:r>
            <a:r>
              <a:rPr lang="en-US" dirty="0"/>
              <a:t> </a:t>
            </a:r>
            <a:r>
              <a:rPr lang="en-US" dirty="0" err="1"/>
              <a:t>реконструкции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норме</a:t>
            </a:r>
            <a:r>
              <a:rPr lang="en-US" dirty="0"/>
              <a:t> L2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штраф</a:t>
            </a:r>
            <a:r>
              <a:rPr lang="en-US" dirty="0"/>
              <a:t> L1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сумму</a:t>
            </a:r>
            <a:r>
              <a:rPr lang="en-US" dirty="0"/>
              <a:t> </a:t>
            </a:r>
            <a:r>
              <a:rPr lang="en-US" dirty="0" err="1"/>
              <a:t>активаций</a:t>
            </a:r>
            <a:r>
              <a:rPr lang="en-US" dirty="0"/>
              <a:t> </a:t>
            </a:r>
            <a:r>
              <a:rPr lang="en-US" dirty="0" err="1"/>
              <a:t>признаков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заставляет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разреженным</a:t>
            </a:r>
            <a:r>
              <a:rPr lang="en-US" dirty="0"/>
              <a:t>. </a:t>
            </a:r>
            <a:r>
              <a:rPr lang="en-US" dirty="0" err="1"/>
              <a:t>Коэффициент</a:t>
            </a:r>
            <a:r>
              <a:rPr lang="en-US" dirty="0"/>
              <a:t> </a:t>
            </a:r>
            <a:r>
              <a:rPr lang="en-US" dirty="0" err="1"/>
              <a:t>λ</a:t>
            </a:r>
            <a:r>
              <a:rPr lang="en-US" dirty="0"/>
              <a:t> </a:t>
            </a:r>
            <a:r>
              <a:rPr lang="en-US" dirty="0" err="1"/>
              <a:t>балансирует</a:t>
            </a:r>
            <a:r>
              <a:rPr lang="en-US" dirty="0"/>
              <a:t> </a:t>
            </a:r>
            <a:r>
              <a:rPr lang="en-US" dirty="0" err="1"/>
              <a:t>точность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разреженность</a:t>
            </a:r>
            <a:r>
              <a:rPr lang="en-US" dirty="0"/>
              <a:t>: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малом</a:t>
            </a:r>
            <a:r>
              <a:rPr lang="en-US" dirty="0"/>
              <a:t> </a:t>
            </a:r>
            <a:r>
              <a:rPr lang="en-US" dirty="0" err="1"/>
              <a:t>λ</a:t>
            </a:r>
            <a:r>
              <a:rPr lang="en-US" dirty="0"/>
              <a:t> </a:t>
            </a:r>
            <a:r>
              <a:rPr lang="en-US" dirty="0" err="1"/>
              <a:t>реконструкция</a:t>
            </a:r>
            <a:r>
              <a:rPr lang="en-US" dirty="0"/>
              <a:t> </a:t>
            </a:r>
            <a:r>
              <a:rPr lang="en-US" dirty="0" err="1"/>
              <a:t>точная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 </a:t>
            </a:r>
            <a:r>
              <a:rPr lang="en-US" dirty="0" err="1"/>
              <a:t>плотные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плохо</a:t>
            </a:r>
            <a:r>
              <a:rPr lang="en-US" dirty="0"/>
              <a:t> </a:t>
            </a:r>
            <a:r>
              <a:rPr lang="en-US" dirty="0" err="1"/>
              <a:t>интерпретируемые</a:t>
            </a:r>
            <a:r>
              <a:rPr lang="en-US" dirty="0"/>
              <a:t>;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большом</a:t>
            </a:r>
            <a:r>
              <a:rPr lang="en-US" dirty="0"/>
              <a:t> — </a:t>
            </a:r>
            <a:r>
              <a:rPr lang="en-US" dirty="0" err="1"/>
              <a:t>наоборот</a:t>
            </a:r>
            <a:r>
              <a:rPr lang="en-US" dirty="0"/>
              <a:t>. Качество </a:t>
            </a:r>
            <a:r>
              <a:rPr lang="en-US" dirty="0" err="1"/>
              <a:t>оценивают</a:t>
            </a:r>
            <a:r>
              <a:rPr lang="en-US" dirty="0"/>
              <a:t> </a:t>
            </a:r>
            <a:r>
              <a:rPr lang="en-US" dirty="0" err="1"/>
              <a:t>тремя</a:t>
            </a:r>
            <a:r>
              <a:rPr lang="en-US" dirty="0"/>
              <a:t> </a:t>
            </a:r>
            <a:r>
              <a:rPr lang="en-US" dirty="0" err="1"/>
              <a:t>группами</a:t>
            </a:r>
            <a:r>
              <a:rPr lang="en-US" dirty="0"/>
              <a:t> </a:t>
            </a:r>
            <a:r>
              <a:rPr lang="en-US" dirty="0" err="1"/>
              <a:t>метрик</a:t>
            </a:r>
            <a:r>
              <a:rPr lang="en-US" dirty="0"/>
              <a:t>: </a:t>
            </a:r>
            <a:r>
              <a:rPr lang="en-US" dirty="0" err="1"/>
              <a:t>реконструкция</a:t>
            </a:r>
            <a:r>
              <a:rPr lang="en-US" dirty="0"/>
              <a:t>, </a:t>
            </a:r>
            <a:r>
              <a:rPr lang="en-US" dirty="0" err="1"/>
              <a:t>разреженность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L0 (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активных</a:t>
            </a:r>
            <a:r>
              <a:rPr lang="en-US" dirty="0"/>
              <a:t> </a:t>
            </a:r>
            <a:r>
              <a:rPr lang="en-US" dirty="0" err="1"/>
              <a:t>признаков</a:t>
            </a:r>
            <a:r>
              <a:rPr lang="en-US" dirty="0"/>
              <a:t>)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автоматическая</a:t>
            </a:r>
            <a:r>
              <a:rPr lang="en-US" dirty="0"/>
              <a:t> </a:t>
            </a:r>
            <a:r>
              <a:rPr lang="en-US" dirty="0" err="1"/>
              <a:t>интерпретируемость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языковая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</a:t>
            </a:r>
            <a:r>
              <a:rPr lang="en-US" dirty="0" err="1"/>
              <a:t>судьи</a:t>
            </a:r>
            <a:r>
              <a:rPr lang="en-US" dirty="0"/>
              <a:t> </a:t>
            </a:r>
            <a:r>
              <a:rPr lang="en-US" dirty="0" err="1"/>
              <a:t>присваивает</a:t>
            </a:r>
            <a:r>
              <a:rPr lang="en-US" dirty="0"/>
              <a:t> </a:t>
            </a:r>
            <a:r>
              <a:rPr lang="en-US" dirty="0" err="1"/>
              <a:t>признакам</a:t>
            </a:r>
            <a:r>
              <a:rPr lang="en-US" dirty="0"/>
              <a:t> </a:t>
            </a:r>
            <a:r>
              <a:rPr lang="en-US" dirty="0" err="1"/>
              <a:t>текстовые</a:t>
            </a:r>
            <a:r>
              <a:rPr lang="en-US" dirty="0"/>
              <a:t> </a:t>
            </a:r>
            <a:r>
              <a:rPr lang="en-US" dirty="0" err="1"/>
              <a:t>метки</a:t>
            </a:r>
            <a:r>
              <a:rPr lang="en-US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0981C7-6519-B7E2-5B63-9673E13AF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67983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14CE8-B98F-9296-23F7-40DE9F97A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4C513A8-59C6-0791-C6FB-421D038D3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7BC8E8-A1DA-DC98-012A-C48792657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Подход</a:t>
            </a:r>
            <a:r>
              <a:rPr lang="en-US" dirty="0"/>
              <a:t>, </a:t>
            </a:r>
            <a:r>
              <a:rPr lang="en-US" dirty="0" err="1"/>
              <a:t>проверенный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маленькой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, </a:t>
            </a:r>
            <a:r>
              <a:rPr lang="en-US" dirty="0" err="1"/>
              <a:t>масштабируется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промышленные</a:t>
            </a:r>
            <a:r>
              <a:rPr lang="en-US" dirty="0"/>
              <a:t> LLM. </a:t>
            </a:r>
            <a:r>
              <a:rPr lang="en-US" dirty="0" err="1"/>
              <a:t>Ключевая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— «Scaling </a:t>
            </a:r>
            <a:r>
              <a:rPr lang="en-US" dirty="0" err="1"/>
              <a:t>Monosemanticity</a:t>
            </a:r>
            <a:r>
              <a:rPr lang="en-US" dirty="0"/>
              <a:t>» </a:t>
            </a:r>
            <a:r>
              <a:rPr lang="en-US" dirty="0" err="1"/>
              <a:t>от</a:t>
            </a:r>
            <a:r>
              <a:rPr lang="en-US" dirty="0"/>
              <a:t> Anthropic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Claude 3 Sonnet. </a:t>
            </a:r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известный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— </a:t>
            </a:r>
            <a:r>
              <a:rPr lang="en-US" dirty="0" err="1"/>
              <a:t>признак</a:t>
            </a:r>
            <a:r>
              <a:rPr lang="en-US" dirty="0"/>
              <a:t> «Golden Gate Bridge».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активируется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упоминания</a:t>
            </a:r>
            <a:r>
              <a:rPr lang="en-US" dirty="0"/>
              <a:t> </a:t>
            </a:r>
            <a:r>
              <a:rPr lang="en-US" dirty="0" err="1"/>
              <a:t>моста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тексте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,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смежные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 — </a:t>
            </a:r>
            <a:r>
              <a:rPr lang="en-US" dirty="0" err="1"/>
              <a:t>Сан-Франциско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. </a:t>
            </a:r>
            <a:r>
              <a:rPr lang="en-US" dirty="0" err="1"/>
              <a:t>А</a:t>
            </a:r>
            <a:r>
              <a:rPr lang="en-US" dirty="0"/>
              <a:t>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признак</a:t>
            </a:r>
            <a:r>
              <a:rPr lang="en-US" dirty="0"/>
              <a:t> </a:t>
            </a:r>
            <a:r>
              <a:rPr lang="en-US" dirty="0" err="1"/>
              <a:t>искусственно</a:t>
            </a:r>
            <a:r>
              <a:rPr lang="en-US" dirty="0"/>
              <a:t> </a:t>
            </a:r>
            <a:r>
              <a:rPr lang="en-US" dirty="0" err="1"/>
              <a:t>усилили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десять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,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начала</a:t>
            </a:r>
            <a:r>
              <a:rPr lang="en-US" dirty="0"/>
              <a:t> </a:t>
            </a:r>
            <a:r>
              <a:rPr lang="en-US" dirty="0" err="1"/>
              <a:t>называть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мостом</a:t>
            </a:r>
            <a:r>
              <a:rPr lang="en-US" dirty="0"/>
              <a:t> Золотые Ворота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наглядно</a:t>
            </a:r>
            <a:r>
              <a:rPr lang="en-US" dirty="0"/>
              <a:t> </a:t>
            </a:r>
            <a:r>
              <a:rPr lang="en-US" dirty="0" err="1"/>
              <a:t>показало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управляют</a:t>
            </a:r>
            <a:r>
              <a:rPr lang="en-US" dirty="0"/>
              <a:t> </a:t>
            </a:r>
            <a:r>
              <a:rPr lang="en-US" dirty="0" err="1"/>
              <a:t>поведением</a:t>
            </a:r>
            <a:r>
              <a:rPr lang="en-US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F12DB1-15A5-21B0-6C51-DD2FBD94E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24916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5108E-0605-5913-7A2A-10F5B566B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E3A9D76-37B7-2E93-890C-79B2728CD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CE9472C-C924-8F68-7784-0DC3CB82A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Помимо </a:t>
            </a:r>
            <a:r>
              <a:rPr lang="en-US" dirty="0" err="1"/>
              <a:t>безобидных</a:t>
            </a:r>
            <a:r>
              <a:rPr lang="en-US" dirty="0"/>
              <a:t> </a:t>
            </a:r>
            <a:r>
              <a:rPr lang="en-US" dirty="0" err="1"/>
              <a:t>понятий</a:t>
            </a:r>
            <a:r>
              <a:rPr lang="en-US" dirty="0"/>
              <a:t>,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крупных</a:t>
            </a:r>
            <a:r>
              <a:rPr lang="en-US" dirty="0"/>
              <a:t> </a:t>
            </a:r>
            <a:r>
              <a:rPr lang="en-US" dirty="0" err="1"/>
              <a:t>моделях</a:t>
            </a:r>
            <a:r>
              <a:rPr lang="en-US" dirty="0"/>
              <a:t> </a:t>
            </a:r>
            <a:r>
              <a:rPr lang="en-US" dirty="0" err="1"/>
              <a:t>нашлись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, </a:t>
            </a:r>
            <a:r>
              <a:rPr lang="en-US" dirty="0" err="1"/>
              <a:t>связанные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потенциально</a:t>
            </a:r>
            <a:r>
              <a:rPr lang="en-US" dirty="0"/>
              <a:t> </a:t>
            </a:r>
            <a:r>
              <a:rPr lang="en-US" dirty="0" err="1"/>
              <a:t>опасным</a:t>
            </a:r>
            <a:r>
              <a:rPr lang="en-US" dirty="0"/>
              <a:t> </a:t>
            </a:r>
            <a:r>
              <a:rPr lang="en-US" dirty="0" err="1"/>
              <a:t>поведением</a:t>
            </a:r>
            <a:r>
              <a:rPr lang="en-US" dirty="0"/>
              <a:t>: </a:t>
            </a:r>
            <a:r>
              <a:rPr lang="en-US" dirty="0" err="1"/>
              <a:t>небезопасный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бэкдоры</a:t>
            </a:r>
            <a:r>
              <a:rPr lang="en-US" dirty="0"/>
              <a:t>, </a:t>
            </a:r>
            <a:r>
              <a:rPr lang="en-US" dirty="0" err="1"/>
              <a:t>лесть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угодливость</a:t>
            </a:r>
            <a:r>
              <a:rPr lang="en-US" dirty="0"/>
              <a:t>, </a:t>
            </a:r>
            <a:r>
              <a:rPr lang="en-US" dirty="0" err="1"/>
              <a:t>расистские</a:t>
            </a:r>
            <a:r>
              <a:rPr lang="en-US" dirty="0"/>
              <a:t> </a:t>
            </a:r>
            <a:r>
              <a:rPr lang="en-US" dirty="0" err="1"/>
              <a:t>высказывания</a:t>
            </a:r>
            <a:r>
              <a:rPr lang="en-US" dirty="0"/>
              <a:t>. Важно </a:t>
            </a:r>
            <a:r>
              <a:rPr lang="en-US" dirty="0" err="1"/>
              <a:t>подчеркнуть</a:t>
            </a:r>
            <a:r>
              <a:rPr lang="en-US" dirty="0"/>
              <a:t>: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признака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опасна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—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отслеживать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каких</a:t>
            </a:r>
            <a:r>
              <a:rPr lang="en-US" dirty="0"/>
              <a:t> </a:t>
            </a:r>
            <a:r>
              <a:rPr lang="en-US" dirty="0" err="1"/>
              <a:t>условиях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 </a:t>
            </a:r>
            <a:r>
              <a:rPr lang="en-US" dirty="0" err="1"/>
              <a:t>активируются</a:t>
            </a:r>
            <a:r>
              <a:rPr lang="en-US" dirty="0"/>
              <a:t>,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 Поэтому </a:t>
            </a:r>
            <a:r>
              <a:rPr lang="en-US" dirty="0" err="1"/>
              <a:t>интерпретируемость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задачей</a:t>
            </a:r>
            <a:r>
              <a:rPr lang="en-US" dirty="0"/>
              <a:t> </a:t>
            </a:r>
            <a:r>
              <a:rPr lang="en-US" dirty="0" err="1"/>
              <a:t>безопасности</a:t>
            </a:r>
            <a:r>
              <a:rPr lang="en-US" dirty="0"/>
              <a:t> 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9E8A78-5605-E18A-F496-11FBDCBD3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7449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8F483-6126-C42F-E032-90A44003A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829416A-6B6D-DEB5-8004-DDFC23738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C2D3A32-C34D-C0CA-56B6-BF15C0078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Помимо </a:t>
            </a:r>
            <a:r>
              <a:rPr lang="en-US" dirty="0" err="1"/>
              <a:t>безобидных</a:t>
            </a:r>
            <a:r>
              <a:rPr lang="en-US" dirty="0"/>
              <a:t> </a:t>
            </a:r>
            <a:r>
              <a:rPr lang="en-US" dirty="0" err="1"/>
              <a:t>понятий</a:t>
            </a:r>
            <a:r>
              <a:rPr lang="en-US" dirty="0"/>
              <a:t>,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крупных</a:t>
            </a:r>
            <a:r>
              <a:rPr lang="en-US" dirty="0"/>
              <a:t> </a:t>
            </a:r>
            <a:r>
              <a:rPr lang="en-US" dirty="0" err="1"/>
              <a:t>моделях</a:t>
            </a:r>
            <a:r>
              <a:rPr lang="en-US" dirty="0"/>
              <a:t> </a:t>
            </a:r>
            <a:r>
              <a:rPr lang="en-US" dirty="0" err="1"/>
              <a:t>нашлись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, </a:t>
            </a:r>
            <a:r>
              <a:rPr lang="en-US" dirty="0" err="1"/>
              <a:t>связанные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потенциально</a:t>
            </a:r>
            <a:r>
              <a:rPr lang="en-US" dirty="0"/>
              <a:t> </a:t>
            </a:r>
            <a:r>
              <a:rPr lang="en-US" dirty="0" err="1"/>
              <a:t>опасным</a:t>
            </a:r>
            <a:r>
              <a:rPr lang="en-US" dirty="0"/>
              <a:t> </a:t>
            </a:r>
            <a:r>
              <a:rPr lang="en-US" dirty="0" err="1"/>
              <a:t>поведением</a:t>
            </a:r>
            <a:r>
              <a:rPr lang="en-US" dirty="0"/>
              <a:t>: </a:t>
            </a:r>
            <a:r>
              <a:rPr lang="en-US" dirty="0" err="1"/>
              <a:t>небезопасный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бэкдоры</a:t>
            </a:r>
            <a:r>
              <a:rPr lang="en-US" dirty="0"/>
              <a:t>, </a:t>
            </a:r>
            <a:r>
              <a:rPr lang="en-US" dirty="0" err="1"/>
              <a:t>лесть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угодливость</a:t>
            </a:r>
            <a:r>
              <a:rPr lang="en-US" dirty="0"/>
              <a:t>, </a:t>
            </a:r>
            <a:r>
              <a:rPr lang="en-US" dirty="0" err="1"/>
              <a:t>расистские</a:t>
            </a:r>
            <a:r>
              <a:rPr lang="en-US" dirty="0"/>
              <a:t> </a:t>
            </a:r>
            <a:r>
              <a:rPr lang="en-US" dirty="0" err="1"/>
              <a:t>высказывания</a:t>
            </a:r>
            <a:r>
              <a:rPr lang="en-US" dirty="0"/>
              <a:t>. Важно </a:t>
            </a:r>
            <a:r>
              <a:rPr lang="en-US" dirty="0" err="1"/>
              <a:t>подчеркнуть</a:t>
            </a:r>
            <a:r>
              <a:rPr lang="en-US" dirty="0"/>
              <a:t>: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признака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опасна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—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отслеживать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каких</a:t>
            </a:r>
            <a:r>
              <a:rPr lang="en-US" dirty="0"/>
              <a:t> </a:t>
            </a:r>
            <a:r>
              <a:rPr lang="en-US" dirty="0" err="1"/>
              <a:t>условиях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 </a:t>
            </a:r>
            <a:r>
              <a:rPr lang="en-US" dirty="0" err="1"/>
              <a:t>активируются</a:t>
            </a:r>
            <a:r>
              <a:rPr lang="en-US" dirty="0"/>
              <a:t>,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 Поэтому </a:t>
            </a:r>
            <a:r>
              <a:rPr lang="en-US" dirty="0" err="1"/>
              <a:t>интерпретируемость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задачей</a:t>
            </a:r>
            <a:r>
              <a:rPr lang="en-US" dirty="0"/>
              <a:t> </a:t>
            </a:r>
            <a:r>
              <a:rPr lang="en-US" dirty="0" err="1"/>
              <a:t>безопасности</a:t>
            </a:r>
            <a:r>
              <a:rPr lang="en-US" dirty="0"/>
              <a:t> 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AECB60-9F53-289C-162B-A4BC541D0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36013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E92D4-FC72-A597-E807-AAD533490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B523D16-A7AE-2DE7-CF50-BB6506432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1BA81CC-02AF-4A27-2BC5-4279C47A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Помимо </a:t>
            </a:r>
            <a:r>
              <a:rPr lang="en-US" dirty="0" err="1"/>
              <a:t>безобидных</a:t>
            </a:r>
            <a:r>
              <a:rPr lang="en-US" dirty="0"/>
              <a:t> </a:t>
            </a:r>
            <a:r>
              <a:rPr lang="en-US" dirty="0" err="1"/>
              <a:t>понятий</a:t>
            </a:r>
            <a:r>
              <a:rPr lang="en-US" dirty="0"/>
              <a:t>,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крупных</a:t>
            </a:r>
            <a:r>
              <a:rPr lang="en-US" dirty="0"/>
              <a:t> </a:t>
            </a:r>
            <a:r>
              <a:rPr lang="en-US" dirty="0" err="1"/>
              <a:t>моделях</a:t>
            </a:r>
            <a:r>
              <a:rPr lang="en-US" dirty="0"/>
              <a:t> </a:t>
            </a:r>
            <a:r>
              <a:rPr lang="en-US" dirty="0" err="1"/>
              <a:t>нашлись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, </a:t>
            </a:r>
            <a:r>
              <a:rPr lang="en-US" dirty="0" err="1"/>
              <a:t>связанные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потенциально</a:t>
            </a:r>
            <a:r>
              <a:rPr lang="en-US" dirty="0"/>
              <a:t> </a:t>
            </a:r>
            <a:r>
              <a:rPr lang="en-US" dirty="0" err="1"/>
              <a:t>опасным</a:t>
            </a:r>
            <a:r>
              <a:rPr lang="en-US" dirty="0"/>
              <a:t> </a:t>
            </a:r>
            <a:r>
              <a:rPr lang="en-US" dirty="0" err="1"/>
              <a:t>поведением</a:t>
            </a:r>
            <a:r>
              <a:rPr lang="en-US" dirty="0"/>
              <a:t>: </a:t>
            </a:r>
            <a:r>
              <a:rPr lang="en-US" dirty="0" err="1"/>
              <a:t>небезопасный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бэкдоры</a:t>
            </a:r>
            <a:r>
              <a:rPr lang="en-US" dirty="0"/>
              <a:t>, </a:t>
            </a:r>
            <a:r>
              <a:rPr lang="en-US" dirty="0" err="1"/>
              <a:t>лесть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угодливость</a:t>
            </a:r>
            <a:r>
              <a:rPr lang="en-US" dirty="0"/>
              <a:t>, </a:t>
            </a:r>
            <a:r>
              <a:rPr lang="en-US" dirty="0" err="1"/>
              <a:t>расистские</a:t>
            </a:r>
            <a:r>
              <a:rPr lang="en-US" dirty="0"/>
              <a:t> </a:t>
            </a:r>
            <a:r>
              <a:rPr lang="en-US" dirty="0" err="1"/>
              <a:t>высказывания</a:t>
            </a:r>
            <a:r>
              <a:rPr lang="en-US" dirty="0"/>
              <a:t>. Важно </a:t>
            </a:r>
            <a:r>
              <a:rPr lang="en-US" dirty="0" err="1"/>
              <a:t>подчеркнуть</a:t>
            </a:r>
            <a:r>
              <a:rPr lang="en-US" dirty="0"/>
              <a:t>: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признака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опасна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—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отслеживать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каких</a:t>
            </a:r>
            <a:r>
              <a:rPr lang="en-US" dirty="0"/>
              <a:t> </a:t>
            </a:r>
            <a:r>
              <a:rPr lang="en-US" dirty="0" err="1"/>
              <a:t>условиях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 </a:t>
            </a:r>
            <a:r>
              <a:rPr lang="en-US" dirty="0" err="1"/>
              <a:t>активируются</a:t>
            </a:r>
            <a:r>
              <a:rPr lang="en-US" dirty="0"/>
              <a:t>,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 Поэтому </a:t>
            </a:r>
            <a:r>
              <a:rPr lang="en-US" dirty="0" err="1"/>
              <a:t>интерпретируемость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задачей</a:t>
            </a:r>
            <a:r>
              <a:rPr lang="en-US" dirty="0"/>
              <a:t> </a:t>
            </a:r>
            <a:r>
              <a:rPr lang="en-US" dirty="0" err="1"/>
              <a:t>безопасности</a:t>
            </a:r>
            <a:r>
              <a:rPr lang="en-US" dirty="0"/>
              <a:t> 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5162FA-0A1F-0459-A19E-7375BD340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66496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22D85-0CFD-4A47-E63D-6E01CC0E7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A928E9F-3BBE-4565-B012-123591DEB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719A500-696C-9024-2D11-C9D4D6987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Помимо </a:t>
            </a:r>
            <a:r>
              <a:rPr lang="en-US" dirty="0" err="1"/>
              <a:t>безобидных</a:t>
            </a:r>
            <a:r>
              <a:rPr lang="en-US" dirty="0"/>
              <a:t> </a:t>
            </a:r>
            <a:r>
              <a:rPr lang="en-US" dirty="0" err="1"/>
              <a:t>понятий</a:t>
            </a:r>
            <a:r>
              <a:rPr lang="en-US" dirty="0"/>
              <a:t>,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крупных</a:t>
            </a:r>
            <a:r>
              <a:rPr lang="en-US" dirty="0"/>
              <a:t> </a:t>
            </a:r>
            <a:r>
              <a:rPr lang="en-US" dirty="0" err="1"/>
              <a:t>моделях</a:t>
            </a:r>
            <a:r>
              <a:rPr lang="en-US" dirty="0"/>
              <a:t> </a:t>
            </a:r>
            <a:r>
              <a:rPr lang="en-US" dirty="0" err="1"/>
              <a:t>нашлись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, </a:t>
            </a:r>
            <a:r>
              <a:rPr lang="en-US" dirty="0" err="1"/>
              <a:t>связанные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потенциально</a:t>
            </a:r>
            <a:r>
              <a:rPr lang="en-US" dirty="0"/>
              <a:t> </a:t>
            </a:r>
            <a:r>
              <a:rPr lang="en-US" dirty="0" err="1"/>
              <a:t>опасным</a:t>
            </a:r>
            <a:r>
              <a:rPr lang="en-US" dirty="0"/>
              <a:t> </a:t>
            </a:r>
            <a:r>
              <a:rPr lang="en-US" dirty="0" err="1"/>
              <a:t>поведением</a:t>
            </a:r>
            <a:r>
              <a:rPr lang="en-US" dirty="0"/>
              <a:t>: </a:t>
            </a:r>
            <a:r>
              <a:rPr lang="en-US" dirty="0" err="1"/>
              <a:t>небезопасный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бэкдоры</a:t>
            </a:r>
            <a:r>
              <a:rPr lang="en-US" dirty="0"/>
              <a:t>, </a:t>
            </a:r>
            <a:r>
              <a:rPr lang="en-US" dirty="0" err="1"/>
              <a:t>лесть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угодливость</a:t>
            </a:r>
            <a:r>
              <a:rPr lang="en-US" dirty="0"/>
              <a:t>, </a:t>
            </a:r>
            <a:r>
              <a:rPr lang="en-US" dirty="0" err="1"/>
              <a:t>расистские</a:t>
            </a:r>
            <a:r>
              <a:rPr lang="en-US" dirty="0"/>
              <a:t> </a:t>
            </a:r>
            <a:r>
              <a:rPr lang="en-US" dirty="0" err="1"/>
              <a:t>высказывания</a:t>
            </a:r>
            <a:r>
              <a:rPr lang="en-US" dirty="0"/>
              <a:t>. Важно </a:t>
            </a:r>
            <a:r>
              <a:rPr lang="en-US" dirty="0" err="1"/>
              <a:t>подчеркнуть</a:t>
            </a:r>
            <a:r>
              <a:rPr lang="en-US" dirty="0"/>
              <a:t>: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признака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опасна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—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отслеживать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каких</a:t>
            </a:r>
            <a:r>
              <a:rPr lang="en-US" dirty="0"/>
              <a:t> </a:t>
            </a:r>
            <a:r>
              <a:rPr lang="en-US" dirty="0" err="1"/>
              <a:t>условиях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 </a:t>
            </a:r>
            <a:r>
              <a:rPr lang="en-US" dirty="0" err="1"/>
              <a:t>активируются</a:t>
            </a:r>
            <a:r>
              <a:rPr lang="en-US" dirty="0"/>
              <a:t>,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 Поэтому </a:t>
            </a:r>
            <a:r>
              <a:rPr lang="en-US" dirty="0" err="1"/>
              <a:t>интерпретируемость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задачей</a:t>
            </a:r>
            <a:r>
              <a:rPr lang="en-US" dirty="0"/>
              <a:t> </a:t>
            </a:r>
            <a:r>
              <a:rPr lang="en-US" dirty="0" err="1"/>
              <a:t>безопасности</a:t>
            </a:r>
            <a:r>
              <a:rPr lang="en-US" dirty="0"/>
              <a:t> 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C7C620-12F8-F561-D023-9855C6C5A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97197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AE424-8F32-46C8-8250-C281D95A3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DD20776-E7A1-589A-88FA-A9256CFA4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6706E00-F8E6-7B1A-BEA5-3BC91C07B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реализуется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feature steering — </a:t>
            </a:r>
            <a:r>
              <a:rPr lang="en-US" dirty="0" err="1"/>
              <a:t>целенаправленное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вмешательством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активации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признаков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инференса</a:t>
            </a:r>
            <a:r>
              <a:rPr lang="en-US" dirty="0"/>
              <a:t>.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Anthropic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приём</a:t>
            </a:r>
            <a:r>
              <a:rPr lang="en-US" dirty="0"/>
              <a:t> activation clamping: </a:t>
            </a:r>
            <a:r>
              <a:rPr lang="en-US" dirty="0" err="1"/>
              <a:t>активация</a:t>
            </a:r>
            <a:r>
              <a:rPr lang="en-US" dirty="0"/>
              <a:t> </a:t>
            </a:r>
            <a:r>
              <a:rPr lang="en-US" dirty="0" err="1"/>
              <a:t>выбранного</a:t>
            </a:r>
            <a:r>
              <a:rPr lang="en-US" dirty="0"/>
              <a:t> </a:t>
            </a:r>
            <a:r>
              <a:rPr lang="en-US" dirty="0" err="1"/>
              <a:t>признака</a:t>
            </a:r>
            <a:r>
              <a:rPr lang="en-US" dirty="0"/>
              <a:t> j </a:t>
            </a:r>
            <a:r>
              <a:rPr lang="en-US" dirty="0" err="1"/>
              <a:t>принудительно</a:t>
            </a:r>
            <a:r>
              <a:rPr lang="en-US" dirty="0"/>
              <a:t> </a:t>
            </a:r>
            <a:r>
              <a:rPr lang="en-US" dirty="0" err="1"/>
              <a:t>фиксируется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заданном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c,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. Дальше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зафиксированная</a:t>
            </a:r>
            <a:r>
              <a:rPr lang="en-US" dirty="0"/>
              <a:t> </a:t>
            </a:r>
            <a:r>
              <a:rPr lang="en-US" dirty="0" err="1"/>
              <a:t>активация</a:t>
            </a:r>
            <a:r>
              <a:rPr lang="en-US" dirty="0"/>
              <a:t> </a:t>
            </a:r>
            <a:r>
              <a:rPr lang="en-US" dirty="0" err="1"/>
              <a:t>проходит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декодер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.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переобучаем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—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подменяем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прямого</a:t>
            </a:r>
            <a:r>
              <a:rPr lang="en-US" dirty="0"/>
              <a:t> </a:t>
            </a:r>
            <a:r>
              <a:rPr lang="en-US" dirty="0" err="1"/>
              <a:t>прохода</a:t>
            </a:r>
            <a:r>
              <a:rPr lang="en-US" dirty="0"/>
              <a:t>,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направленно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генерацию</a:t>
            </a:r>
            <a:r>
              <a:rPr lang="en-US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8293A4-71DE-9D79-41D1-4E5EF80E8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62562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AC8BA-4522-B8B2-CD01-C1F699415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542CC3B-FACF-158C-B0AF-F17123CF1E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66C46AC-7223-31A8-6BF1-EF9DDEDC6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реализуется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feature steering — </a:t>
            </a:r>
            <a:r>
              <a:rPr lang="en-US" dirty="0" err="1"/>
              <a:t>целенаправленное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вмешательством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активации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признаков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инференса</a:t>
            </a:r>
            <a:r>
              <a:rPr lang="en-US" dirty="0"/>
              <a:t>.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Anthropic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приём</a:t>
            </a:r>
            <a:r>
              <a:rPr lang="en-US" dirty="0"/>
              <a:t> activation clamping: </a:t>
            </a:r>
            <a:r>
              <a:rPr lang="en-US" dirty="0" err="1"/>
              <a:t>активация</a:t>
            </a:r>
            <a:r>
              <a:rPr lang="en-US" dirty="0"/>
              <a:t> </a:t>
            </a:r>
            <a:r>
              <a:rPr lang="en-US" dirty="0" err="1"/>
              <a:t>выбранного</a:t>
            </a:r>
            <a:r>
              <a:rPr lang="en-US" dirty="0"/>
              <a:t> </a:t>
            </a:r>
            <a:r>
              <a:rPr lang="en-US" dirty="0" err="1"/>
              <a:t>признака</a:t>
            </a:r>
            <a:r>
              <a:rPr lang="en-US" dirty="0"/>
              <a:t> j </a:t>
            </a:r>
            <a:r>
              <a:rPr lang="en-US" dirty="0" err="1"/>
              <a:t>принудительно</a:t>
            </a:r>
            <a:r>
              <a:rPr lang="en-US" dirty="0"/>
              <a:t> </a:t>
            </a:r>
            <a:r>
              <a:rPr lang="en-US" dirty="0" err="1"/>
              <a:t>фиксируется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заданном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c,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. Дальше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зафиксированная</a:t>
            </a:r>
            <a:r>
              <a:rPr lang="en-US" dirty="0"/>
              <a:t> </a:t>
            </a:r>
            <a:r>
              <a:rPr lang="en-US" dirty="0" err="1"/>
              <a:t>активация</a:t>
            </a:r>
            <a:r>
              <a:rPr lang="en-US" dirty="0"/>
              <a:t> </a:t>
            </a:r>
            <a:r>
              <a:rPr lang="en-US" dirty="0" err="1"/>
              <a:t>проходит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декодер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.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переобучаем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—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подменяем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прямого</a:t>
            </a:r>
            <a:r>
              <a:rPr lang="en-US" dirty="0"/>
              <a:t> </a:t>
            </a:r>
            <a:r>
              <a:rPr lang="en-US" dirty="0" err="1"/>
              <a:t>прохода</a:t>
            </a:r>
            <a:r>
              <a:rPr lang="en-US" dirty="0"/>
              <a:t>,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направленно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генерацию</a:t>
            </a:r>
            <a:r>
              <a:rPr lang="en-US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D1653C-035F-EC0A-2D14-5738E61E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52375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D20C4-2A18-3D13-E0B7-AE8CFE311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F047B17-9195-3B23-4222-6E3CBED80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057D525-6CB3-1FBF-AEB2-93393F435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Я</a:t>
            </a:r>
            <a:r>
              <a:rPr lang="en-US" dirty="0"/>
              <a:t> </a:t>
            </a:r>
            <a:r>
              <a:rPr lang="en-US" dirty="0" err="1"/>
              <a:t>обучил</a:t>
            </a:r>
            <a:r>
              <a:rPr lang="en-US" dirty="0"/>
              <a:t> </a:t>
            </a:r>
            <a:r>
              <a:rPr lang="en-US" dirty="0" err="1"/>
              <a:t>стандартный</a:t>
            </a:r>
            <a:r>
              <a:rPr lang="en-US" dirty="0"/>
              <a:t> SAE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 SAE-Lens — </a:t>
            </a:r>
            <a:r>
              <a:rPr lang="en-US" dirty="0" err="1"/>
              <a:t>энкодер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декодер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ReLU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L1-регуляризацией. Размер </a:t>
            </a:r>
            <a:r>
              <a:rPr lang="en-US" dirty="0" err="1"/>
              <a:t>словаря</a:t>
            </a:r>
            <a:r>
              <a:rPr lang="en-US" dirty="0"/>
              <a:t> </a:t>
            </a:r>
            <a:r>
              <a:rPr lang="en-US" dirty="0" err="1"/>
              <a:t>выбран</a:t>
            </a:r>
            <a:r>
              <a:rPr lang="en-US" dirty="0"/>
              <a:t> 32768 </a:t>
            </a:r>
            <a:r>
              <a:rPr lang="en-US" dirty="0" err="1"/>
              <a:t>признаков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шестнадцатикратное</a:t>
            </a:r>
            <a:r>
              <a:rPr lang="en-US" dirty="0"/>
              <a:t> </a:t>
            </a:r>
            <a:r>
              <a:rPr lang="en-US" dirty="0" err="1"/>
              <a:t>расширение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размерности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2048. </a:t>
            </a:r>
            <a:r>
              <a:rPr lang="en-US" dirty="0" err="1"/>
              <a:t>Коэффициент</a:t>
            </a:r>
            <a:r>
              <a:rPr lang="en-US" dirty="0"/>
              <a:t> </a:t>
            </a:r>
            <a:r>
              <a:rPr lang="en-US" dirty="0" err="1"/>
              <a:t>λ</a:t>
            </a:r>
            <a:r>
              <a:rPr lang="en-US" dirty="0"/>
              <a:t> </a:t>
            </a:r>
            <a:r>
              <a:rPr lang="en-US" dirty="0" err="1"/>
              <a:t>равен</a:t>
            </a:r>
            <a:r>
              <a:rPr lang="en-US" dirty="0"/>
              <a:t> </a:t>
            </a:r>
            <a:r>
              <a:rPr lang="en-US" dirty="0" err="1"/>
              <a:t>десять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минус</a:t>
            </a:r>
            <a:r>
              <a:rPr lang="en-US" dirty="0"/>
              <a:t> </a:t>
            </a:r>
            <a:r>
              <a:rPr lang="en-US" dirty="0" err="1"/>
              <a:t>третьей</a:t>
            </a:r>
            <a:r>
              <a:rPr lang="en-US" dirty="0"/>
              <a:t>, </a:t>
            </a:r>
            <a:r>
              <a:rPr lang="en-US" dirty="0" err="1"/>
              <a:t>обучение</a:t>
            </a:r>
            <a:r>
              <a:rPr lang="en-US" dirty="0"/>
              <a:t> </a:t>
            </a:r>
            <a:r>
              <a:rPr lang="en-US" dirty="0" err="1"/>
              <a:t>шло</a:t>
            </a:r>
            <a:r>
              <a:rPr lang="en-US" dirty="0"/>
              <a:t> </a:t>
            </a:r>
            <a:r>
              <a:rPr lang="en-US" dirty="0" err="1"/>
              <a:t>около</a:t>
            </a:r>
            <a:r>
              <a:rPr lang="en-US" dirty="0"/>
              <a:t> </a:t>
            </a:r>
            <a:r>
              <a:rPr lang="en-US" dirty="0" err="1"/>
              <a:t>двадцати</a:t>
            </a:r>
            <a:r>
              <a:rPr lang="en-US" dirty="0"/>
              <a:t> </a:t>
            </a:r>
            <a:r>
              <a:rPr lang="en-US" dirty="0" err="1"/>
              <a:t>тысяч</a:t>
            </a:r>
            <a:r>
              <a:rPr lang="en-US" dirty="0"/>
              <a:t> </a:t>
            </a:r>
            <a:r>
              <a:rPr lang="en-US" dirty="0" err="1"/>
              <a:t>шагов</a:t>
            </a:r>
            <a:r>
              <a:rPr lang="en-US" dirty="0"/>
              <a:t>.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качеству</a:t>
            </a:r>
            <a:r>
              <a:rPr lang="en-US" dirty="0"/>
              <a:t> </a:t>
            </a:r>
            <a:r>
              <a:rPr lang="en-US" dirty="0" err="1"/>
              <a:t>реконструкции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: reconstruction score 0.884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обучении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0.929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тесте</a:t>
            </a:r>
            <a:r>
              <a:rPr lang="en-US" dirty="0"/>
              <a:t> —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SAE </a:t>
            </a:r>
            <a:r>
              <a:rPr lang="en-US" dirty="0" err="1"/>
              <a:t>восстанавливает</a:t>
            </a:r>
            <a:r>
              <a:rPr lang="en-US" dirty="0"/>
              <a:t> </a:t>
            </a:r>
            <a:r>
              <a:rPr lang="en-US" dirty="0" err="1"/>
              <a:t>активации</a:t>
            </a:r>
            <a:r>
              <a:rPr lang="en-US" dirty="0"/>
              <a:t> </a:t>
            </a:r>
            <a:r>
              <a:rPr lang="en-US" dirty="0" err="1"/>
              <a:t>заметно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тривиального</a:t>
            </a:r>
            <a:r>
              <a:rPr lang="en-US" dirty="0"/>
              <a:t> </a:t>
            </a:r>
            <a:r>
              <a:rPr lang="en-US" dirty="0" err="1"/>
              <a:t>бейзлайна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: L0 </a:t>
            </a:r>
            <a:r>
              <a:rPr lang="en-US" dirty="0" err="1"/>
              <a:t>около</a:t>
            </a:r>
            <a:r>
              <a:rPr lang="en-US" dirty="0"/>
              <a:t> 18.7 </a:t>
            </a:r>
            <a:r>
              <a:rPr lang="en-US" dirty="0" err="1"/>
              <a:t>тысяч</a:t>
            </a:r>
            <a:r>
              <a:rPr lang="en-US" dirty="0"/>
              <a:t> </a:t>
            </a:r>
            <a:r>
              <a:rPr lang="en-US" dirty="0" err="1"/>
              <a:t>активных</a:t>
            </a:r>
            <a:r>
              <a:rPr lang="en-US" dirty="0"/>
              <a:t> </a:t>
            </a:r>
            <a:r>
              <a:rPr lang="en-US" dirty="0" err="1"/>
              <a:t>признаков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32.8 </a:t>
            </a:r>
            <a:r>
              <a:rPr lang="en-US" dirty="0" err="1"/>
              <a:t>тысяч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слабая</a:t>
            </a:r>
            <a:r>
              <a:rPr lang="en-US" dirty="0"/>
              <a:t> </a:t>
            </a:r>
            <a:r>
              <a:rPr lang="en-US" dirty="0" err="1"/>
              <a:t>разреженность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dirty="0" err="1"/>
              <a:t>токене</a:t>
            </a:r>
            <a:r>
              <a:rPr lang="en-US" dirty="0"/>
              <a:t> </a:t>
            </a:r>
            <a:r>
              <a:rPr lang="en-US" dirty="0" err="1"/>
              <a:t>активна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половина</a:t>
            </a:r>
            <a:r>
              <a:rPr lang="en-US" dirty="0"/>
              <a:t> </a:t>
            </a:r>
            <a:r>
              <a:rPr lang="en-US" dirty="0" err="1"/>
              <a:t>словаря</a:t>
            </a:r>
            <a:r>
              <a:rPr lang="en-US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9E3693-1CC9-2D41-FC9E-AE009E040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2815781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CF542-89DF-4169-BA2B-1B97C29B7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A699B35-3EC6-D6C2-ECBB-1F8C0B354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62F7CBB-6432-4C70-F5C2-F0629F9C3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я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интерпретировал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. Для </a:t>
            </a:r>
            <a:r>
              <a:rPr lang="en-US" dirty="0" err="1"/>
              <a:t>пяти</a:t>
            </a:r>
            <a:r>
              <a:rPr lang="en-US" dirty="0"/>
              <a:t> </a:t>
            </a:r>
            <a:r>
              <a:rPr lang="en-US" dirty="0" err="1"/>
              <a:t>тысяч</a:t>
            </a:r>
            <a:r>
              <a:rPr lang="en-US" dirty="0"/>
              <a:t> </a:t>
            </a:r>
            <a:r>
              <a:rPr lang="en-US" dirty="0" err="1"/>
              <a:t>признаков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максимальной</a:t>
            </a:r>
            <a:r>
              <a:rPr lang="en-US" dirty="0"/>
              <a:t> </a:t>
            </a:r>
            <a:r>
              <a:rPr lang="en-US" dirty="0" err="1"/>
              <a:t>активацией</a:t>
            </a:r>
            <a:r>
              <a:rPr lang="en-US" dirty="0"/>
              <a:t> </a:t>
            </a:r>
            <a:r>
              <a:rPr lang="en-US" dirty="0" err="1"/>
              <a:t>бралось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пятнадцать</a:t>
            </a:r>
            <a:r>
              <a:rPr lang="en-US" dirty="0"/>
              <a:t> </a:t>
            </a:r>
            <a:r>
              <a:rPr lang="en-US" dirty="0" err="1"/>
              <a:t>фрагментов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r>
              <a:rPr lang="en-US" dirty="0"/>
              <a:t>,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языковая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Qwen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</a:t>
            </a:r>
            <a:r>
              <a:rPr lang="en-US" dirty="0" err="1"/>
              <a:t>судьи</a:t>
            </a:r>
            <a:r>
              <a:rPr lang="en-US" dirty="0"/>
              <a:t> </a:t>
            </a:r>
            <a:r>
              <a:rPr lang="en-US" dirty="0" err="1"/>
              <a:t>присваивала</a:t>
            </a:r>
            <a:r>
              <a:rPr lang="en-US" dirty="0"/>
              <a:t> </a:t>
            </a:r>
            <a:r>
              <a:rPr lang="en-US" dirty="0" err="1"/>
              <a:t>каждому</a:t>
            </a:r>
            <a:r>
              <a:rPr lang="en-US" dirty="0"/>
              <a:t> </a:t>
            </a:r>
            <a:r>
              <a:rPr lang="en-US" dirty="0" err="1"/>
              <a:t>признаку</a:t>
            </a:r>
            <a:r>
              <a:rPr lang="en-US" dirty="0"/>
              <a:t> </a:t>
            </a:r>
            <a:r>
              <a:rPr lang="en-US" dirty="0" err="1"/>
              <a:t>текстовую</a:t>
            </a:r>
            <a:r>
              <a:rPr lang="en-US" dirty="0"/>
              <a:t> </a:t>
            </a:r>
            <a:r>
              <a:rPr lang="en-US" dirty="0" err="1"/>
              <a:t>метку</a:t>
            </a:r>
            <a:r>
              <a:rPr lang="en-US" dirty="0"/>
              <a:t>. </a:t>
            </a:r>
            <a:r>
              <a:rPr lang="ru-RU" dirty="0"/>
              <a:t>Получили достаточно хороший </a:t>
            </a:r>
            <a:r>
              <a:rPr lang="en-US" dirty="0"/>
              <a:t>accuracy</a:t>
            </a:r>
            <a:r>
              <a:rPr lang="ru-RU" dirty="0"/>
              <a:t> по всем классам</a:t>
            </a:r>
            <a:r>
              <a:rPr lang="en-US" dirty="0"/>
              <a:t>.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осмысленные</a:t>
            </a:r>
            <a:r>
              <a:rPr lang="en-US" dirty="0"/>
              <a:t> </a:t>
            </a:r>
            <a:r>
              <a:rPr lang="en-US" dirty="0" err="1"/>
              <a:t>метки</a:t>
            </a:r>
            <a:r>
              <a:rPr lang="en-US" dirty="0"/>
              <a:t>: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заголовки</a:t>
            </a:r>
            <a:r>
              <a:rPr lang="en-US" dirty="0"/>
              <a:t> </a:t>
            </a:r>
            <a:r>
              <a:rPr lang="en-US" dirty="0" err="1"/>
              <a:t>новостей</a:t>
            </a:r>
            <a:r>
              <a:rPr lang="en-US" dirty="0"/>
              <a:t>, </a:t>
            </a:r>
            <a:r>
              <a:rPr lang="en-US" dirty="0" err="1"/>
              <a:t>Париж</a:t>
            </a:r>
            <a:r>
              <a:rPr lang="en-US" dirty="0"/>
              <a:t>, </a:t>
            </a:r>
            <a:r>
              <a:rPr lang="en-US" dirty="0" err="1"/>
              <a:t>мужской</a:t>
            </a:r>
            <a:r>
              <a:rPr lang="en-US" dirty="0"/>
              <a:t> </a:t>
            </a:r>
            <a:r>
              <a:rPr lang="en-US" dirty="0" err="1"/>
              <a:t>род</a:t>
            </a:r>
            <a:r>
              <a:rPr lang="en-US" dirty="0"/>
              <a:t>, </a:t>
            </a:r>
            <a:r>
              <a:rPr lang="en-US" dirty="0" err="1"/>
              <a:t>модальные</a:t>
            </a:r>
            <a:r>
              <a:rPr lang="en-US" dirty="0"/>
              <a:t> </a:t>
            </a:r>
            <a:r>
              <a:rPr lang="en-US" dirty="0" err="1"/>
              <a:t>глаголы</a:t>
            </a:r>
            <a:r>
              <a:rPr lang="en-US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413138-DA4A-E916-5949-1DD6BCCE3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156215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A9C93-87C1-425A-A31E-98E097440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422F445-89ED-FBA2-5787-F79D42692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25D79CD-6367-6BE8-EA58-1DFBFD6C0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Финальный</a:t>
            </a:r>
            <a:r>
              <a:rPr lang="en-US" dirty="0"/>
              <a:t> </a:t>
            </a:r>
            <a:r>
              <a:rPr lang="en-US" dirty="0" err="1"/>
              <a:t>этап</a:t>
            </a:r>
            <a:r>
              <a:rPr lang="en-US" dirty="0"/>
              <a:t> — </a:t>
            </a:r>
            <a:r>
              <a:rPr lang="en-US" dirty="0" err="1"/>
              <a:t>проверка</a:t>
            </a:r>
            <a:r>
              <a:rPr lang="en-US" dirty="0"/>
              <a:t> feature steering. </a:t>
            </a:r>
            <a:r>
              <a:rPr lang="en-US" dirty="0" err="1"/>
              <a:t>Я</a:t>
            </a:r>
            <a:r>
              <a:rPr lang="en-US" dirty="0"/>
              <a:t> </a:t>
            </a:r>
            <a:r>
              <a:rPr lang="en-US" dirty="0" err="1"/>
              <a:t>взял</a:t>
            </a:r>
            <a:r>
              <a:rPr lang="en-US" dirty="0"/>
              <a:t> </a:t>
            </a:r>
            <a:r>
              <a:rPr lang="en-US" dirty="0" err="1"/>
              <a:t>признак</a:t>
            </a:r>
            <a:r>
              <a:rPr lang="en-US" dirty="0"/>
              <a:t> 26928,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судья</a:t>
            </a:r>
            <a:r>
              <a:rPr lang="en-US" dirty="0"/>
              <a:t> </a:t>
            </a:r>
            <a:r>
              <a:rPr lang="en-US" dirty="0" err="1"/>
              <a:t>пометил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«</a:t>
            </a:r>
            <a:r>
              <a:rPr lang="en-US" dirty="0" err="1"/>
              <a:t>Париж</a:t>
            </a:r>
            <a:r>
              <a:rPr lang="en-US" dirty="0"/>
              <a:t>»,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фиксировал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активацию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процедуре</a:t>
            </a:r>
            <a:r>
              <a:rPr lang="en-US" dirty="0"/>
              <a:t> activation clamping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том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запросе</a:t>
            </a:r>
            <a:r>
              <a:rPr lang="en-US" dirty="0"/>
              <a:t>: «The capital of Germany is».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базовом</a:t>
            </a:r>
            <a:r>
              <a:rPr lang="en-US" dirty="0"/>
              <a:t> </a:t>
            </a:r>
            <a:r>
              <a:rPr lang="en-US" dirty="0" err="1"/>
              <a:t>режиме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— Berlin. При </a:t>
            </a:r>
            <a:r>
              <a:rPr lang="en-US" dirty="0" err="1"/>
              <a:t>умеренном</a:t>
            </a:r>
            <a:r>
              <a:rPr lang="en-US" dirty="0"/>
              <a:t> </a:t>
            </a:r>
            <a:r>
              <a:rPr lang="en-US" dirty="0" err="1"/>
              <a:t>усилении</a:t>
            </a:r>
            <a:r>
              <a:rPr lang="en-US" dirty="0"/>
              <a:t>, c </a:t>
            </a:r>
            <a:r>
              <a:rPr lang="en-US" dirty="0" err="1"/>
              <a:t>равно</a:t>
            </a:r>
            <a:r>
              <a:rPr lang="en-US" dirty="0"/>
              <a:t> 50, </a:t>
            </a:r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. </a:t>
            </a:r>
            <a:r>
              <a:rPr lang="en-US" dirty="0" err="1"/>
              <a:t>А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c </a:t>
            </a:r>
            <a:r>
              <a:rPr lang="en-US" dirty="0" err="1"/>
              <a:t>равном</a:t>
            </a:r>
            <a:r>
              <a:rPr lang="en-US" dirty="0"/>
              <a:t> 100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уверенно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Paris. Это </a:t>
            </a:r>
            <a:r>
              <a:rPr lang="en-US" dirty="0" err="1"/>
              <a:t>ключевой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: </a:t>
            </a:r>
            <a:r>
              <a:rPr lang="en-US" dirty="0" err="1"/>
              <a:t>вмешательство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разрушило</a:t>
            </a:r>
            <a:r>
              <a:rPr lang="en-US" dirty="0"/>
              <a:t> </a:t>
            </a:r>
            <a:r>
              <a:rPr lang="en-US" dirty="0" err="1"/>
              <a:t>генерацию</a:t>
            </a:r>
            <a:r>
              <a:rPr lang="en-US" dirty="0"/>
              <a:t> — </a:t>
            </a:r>
            <a:r>
              <a:rPr lang="en-US" dirty="0" err="1"/>
              <a:t>текст</a:t>
            </a:r>
            <a:r>
              <a:rPr lang="en-US" dirty="0"/>
              <a:t> </a:t>
            </a:r>
            <a:r>
              <a:rPr lang="en-US" dirty="0" err="1"/>
              <a:t>остался</a:t>
            </a:r>
            <a:r>
              <a:rPr lang="en-US" dirty="0"/>
              <a:t> </a:t>
            </a:r>
            <a:r>
              <a:rPr lang="en-US" dirty="0" err="1"/>
              <a:t>связным</a:t>
            </a:r>
            <a:r>
              <a:rPr lang="en-US" dirty="0"/>
              <a:t> —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направленно</a:t>
            </a:r>
            <a:r>
              <a:rPr lang="en-US" dirty="0"/>
              <a:t> </a:t>
            </a:r>
            <a:r>
              <a:rPr lang="en-US" dirty="0" err="1"/>
              <a:t>изменило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 SAE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интерпретации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6B3055-1C61-19CA-1ED8-79C088915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549289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BAC7A-D3EE-EC6B-EA9B-3247CF822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19AC695-48DB-D01D-36CB-002E25B10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F25353B-4F23-FA0C-7967-51BC43292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</a:t>
            </a:r>
            <a:r>
              <a:rPr lang="en-US" dirty="0" err="1"/>
              <a:t>итоги</a:t>
            </a:r>
            <a:r>
              <a:rPr lang="en-US" dirty="0"/>
              <a:t>. Все </a:t>
            </a:r>
            <a:r>
              <a:rPr lang="en-US" dirty="0" err="1"/>
              <a:t>поставленные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выполнены</a:t>
            </a:r>
            <a:r>
              <a:rPr lang="en-US" dirty="0"/>
              <a:t>: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механистической</a:t>
            </a:r>
            <a:r>
              <a:rPr lang="en-US" dirty="0"/>
              <a:t> </a:t>
            </a:r>
            <a:r>
              <a:rPr lang="en-US" dirty="0" err="1"/>
              <a:t>интерпретируемости</a:t>
            </a:r>
            <a:r>
              <a:rPr lang="en-US" dirty="0"/>
              <a:t> </a:t>
            </a:r>
            <a:r>
              <a:rPr lang="en-US" dirty="0" err="1"/>
              <a:t>проанализированы</a:t>
            </a:r>
            <a:r>
              <a:rPr lang="en-US" dirty="0"/>
              <a:t>, </a:t>
            </a:r>
            <a:r>
              <a:rPr lang="en-US" dirty="0" err="1"/>
              <a:t>а</a:t>
            </a:r>
            <a:r>
              <a:rPr lang="en-US" dirty="0"/>
              <a:t>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этапы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SAE </a:t>
            </a:r>
            <a:r>
              <a:rPr lang="en-US" dirty="0" err="1"/>
              <a:t>воспроизведены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открытой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Qwen3-1.7B. SAE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восстанавливает</a:t>
            </a:r>
            <a:r>
              <a:rPr lang="en-US" dirty="0"/>
              <a:t> </a:t>
            </a:r>
            <a:r>
              <a:rPr lang="en-US" dirty="0" err="1"/>
              <a:t>активации</a:t>
            </a:r>
            <a:r>
              <a:rPr lang="en-US" dirty="0"/>
              <a:t> — score 0.929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тесте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главный</a:t>
            </a:r>
            <a:r>
              <a:rPr lang="en-US" dirty="0"/>
              <a:t>,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честный</a:t>
            </a:r>
            <a:r>
              <a:rPr lang="en-US" dirty="0"/>
              <a:t>,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: </a:t>
            </a:r>
            <a:r>
              <a:rPr lang="en-US" dirty="0" err="1"/>
              <a:t>хорошая</a:t>
            </a:r>
            <a:r>
              <a:rPr lang="en-US" dirty="0"/>
              <a:t> </a:t>
            </a:r>
            <a:r>
              <a:rPr lang="en-US" dirty="0" err="1"/>
              <a:t>реконструкция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 </a:t>
            </a:r>
            <a:r>
              <a:rPr lang="en-US" dirty="0" err="1"/>
              <a:t>хорошую</a:t>
            </a:r>
            <a:r>
              <a:rPr lang="en-US" dirty="0"/>
              <a:t> </a:t>
            </a:r>
            <a:r>
              <a:rPr lang="en-US" dirty="0" err="1"/>
              <a:t>интерпретируемость</a:t>
            </a:r>
            <a:r>
              <a:rPr lang="en-US" dirty="0"/>
              <a:t>. </a:t>
            </a:r>
            <a:r>
              <a:rPr lang="en-US" dirty="0" err="1"/>
              <a:t>Основное</a:t>
            </a:r>
            <a:r>
              <a:rPr lang="en-US" dirty="0"/>
              <a:t> </a:t>
            </a:r>
            <a:r>
              <a:rPr lang="en-US" dirty="0" err="1"/>
              <a:t>ограничение</a:t>
            </a:r>
            <a:r>
              <a:rPr lang="en-US" dirty="0"/>
              <a:t> — </a:t>
            </a:r>
            <a:r>
              <a:rPr lang="en-US" dirty="0" err="1"/>
              <a:t>слабая</a:t>
            </a:r>
            <a:r>
              <a:rPr lang="en-US" dirty="0"/>
              <a:t> </a:t>
            </a:r>
            <a:r>
              <a:rPr lang="en-US" dirty="0" err="1"/>
              <a:t>разреженность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SAE,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dirty="0" err="1"/>
              <a:t>токене</a:t>
            </a:r>
            <a:r>
              <a:rPr lang="en-US" dirty="0"/>
              <a:t> </a:t>
            </a:r>
            <a:r>
              <a:rPr lang="en-US" dirty="0" err="1"/>
              <a:t>активна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половина</a:t>
            </a:r>
            <a:r>
              <a:rPr lang="en-US" dirty="0"/>
              <a:t> </a:t>
            </a:r>
            <a:r>
              <a:rPr lang="en-US" dirty="0" err="1"/>
              <a:t>признаков</a:t>
            </a:r>
            <a:r>
              <a:rPr lang="en-US" dirty="0"/>
              <a:t>. </a:t>
            </a:r>
            <a:r>
              <a:rPr lang="en-US" dirty="0" err="1"/>
              <a:t>Направления</a:t>
            </a:r>
            <a:r>
              <a:rPr lang="en-US" dirty="0"/>
              <a:t> </a:t>
            </a:r>
            <a:r>
              <a:rPr lang="en-US" dirty="0" err="1"/>
              <a:t>дальнейшей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—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сильную</a:t>
            </a:r>
            <a:r>
              <a:rPr lang="en-US" dirty="0"/>
              <a:t> </a:t>
            </a:r>
            <a:r>
              <a:rPr lang="en-US" dirty="0" err="1"/>
              <a:t>регуляризацию</a:t>
            </a:r>
            <a:r>
              <a:rPr lang="en-US" dirty="0"/>
              <a:t>: Top-K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JumpReLU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L1, </a:t>
            </a:r>
            <a:r>
              <a:rPr lang="en-US" dirty="0" err="1"/>
              <a:t>а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попробовать</a:t>
            </a:r>
            <a:r>
              <a:rPr lang="en-US" dirty="0"/>
              <a:t> </a:t>
            </a:r>
            <a:r>
              <a:rPr lang="en-US" dirty="0" err="1"/>
              <a:t>дообучение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использованием</a:t>
            </a:r>
            <a:r>
              <a:rPr lang="en-US" dirty="0"/>
              <a:t> </a:t>
            </a:r>
            <a:r>
              <a:rPr lang="en-US" dirty="0" err="1"/>
              <a:t>признаков</a:t>
            </a:r>
            <a:r>
              <a:rPr lang="en-US" dirty="0"/>
              <a:t> SAE.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0ED844-7C63-7E54-4057-9D44D988A0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67112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US" sz="4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pt)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 (12</a:t>
            </a:r>
            <a:r>
              <a:rPr lang="en-GB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Москва 202</a:t>
            </a:r>
            <a:r>
              <a:rPr lang="en-US" sz="1200" dirty="0">
                <a:latin typeface="HSE Sans" panose="02000000000000000000" pitchFamily="2" charset="0"/>
              </a:rPr>
              <a:t>4</a:t>
            </a:r>
            <a:r>
              <a:rPr lang="ru-RU" sz="1200" dirty="0">
                <a:latin typeface="HSE Sans" panose="02000000000000000000" pitchFamily="2" charset="0"/>
              </a:rPr>
              <a:t> (12</a:t>
            </a:r>
            <a:r>
              <a:rPr lang="en-US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 (16 </a:t>
            </a:r>
            <a:r>
              <a:rPr lang="en-US" sz="16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138171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US" sz="4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latin typeface="HSE Sans" panose="02000000000000000000" pitchFamily="2" charset="0"/>
              </a:rPr>
              <a:t>Название факультета</a:t>
            </a:r>
            <a:br>
              <a:rPr lang="ru-RU" sz="1600" dirty="0">
                <a:latin typeface="HSE Sans" panose="02000000000000000000" pitchFamily="2" charset="0"/>
              </a:rPr>
            </a:br>
            <a:r>
              <a:rPr lang="ru-RU" sz="1600" dirty="0">
                <a:latin typeface="HSE Sans" panose="02000000000000000000" pitchFamily="2" charset="0"/>
              </a:rPr>
              <a:t>в две строки (16 </a:t>
            </a:r>
            <a:r>
              <a:rPr lang="en-GB" sz="16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 (12</a:t>
            </a:r>
            <a:r>
              <a:rPr lang="en-GB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Москва 202</a:t>
            </a:r>
            <a:r>
              <a:rPr lang="en-US" sz="1200" dirty="0">
                <a:latin typeface="HSE Sans" panose="02000000000000000000" pitchFamily="2" charset="0"/>
              </a:rPr>
              <a:t>4</a:t>
            </a:r>
            <a:r>
              <a:rPr lang="ru-RU" sz="1200" dirty="0">
                <a:latin typeface="HSE Sans" panose="02000000000000000000" pitchFamily="2" charset="0"/>
              </a:rPr>
              <a:t> (12</a:t>
            </a:r>
            <a:r>
              <a:rPr lang="en-US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 (16 </a:t>
            </a:r>
            <a:r>
              <a:rPr lang="en-US" sz="16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 (24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Небольшие куски текста (13</a:t>
            </a:r>
            <a:r>
              <a:rPr lang="en-US" sz="1300" dirty="0">
                <a:latin typeface="HSE Sans" panose="02000000000000000000" pitchFamily="2" charset="0"/>
              </a:rPr>
              <a:t>pt) </a:t>
            </a:r>
            <a:r>
              <a:rPr lang="ru-RU" sz="1300" dirty="0">
                <a:latin typeface="HSE Sans" panose="02000000000000000000" pitchFamily="2" charset="0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>
            <a:pPr>
              <a:spcBef>
                <a:spcPts val="1200"/>
              </a:spcBef>
            </a:pP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798C6166-01E6-3A4D-3611-967AEA952E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_1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 (24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Небольшие куски текста (13</a:t>
            </a:r>
            <a:r>
              <a:rPr lang="en-US" sz="1300" dirty="0">
                <a:latin typeface="HSE Sans" panose="02000000000000000000" pitchFamily="2" charset="0"/>
              </a:rPr>
              <a:t>pt) </a:t>
            </a:r>
            <a:r>
              <a:rPr lang="ru-RU" sz="1300" dirty="0">
                <a:latin typeface="HSE Sans" panose="02000000000000000000" pitchFamily="2" charset="0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>
            <a:pPr>
              <a:spcBef>
                <a:spcPts val="1200"/>
              </a:spcBef>
            </a:pP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3" name="Текст 37">
            <a:extLst>
              <a:ext uri="{FF2B5EF4-FFF2-40B4-BE49-F238E27FC236}">
                <a16:creationId xmlns:a16="http://schemas.microsoft.com/office/drawing/2014/main" id="{ADCA6769-713A-C49E-92DE-E9D735177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5C193-8C8A-222F-D79E-2AE23A67B14E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63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</p:spPr>
        <p:txBody>
          <a:bodyPr lIns="0" tIns="0" rIns="0" numCol="3" spcCol="2520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1F48D50A-A262-1C9D-B595-6E723440F8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DC289-A346-6D52-728C-DBDB0625F3E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Текст 37">
            <a:extLst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_3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Текст 37">
            <a:extLst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E56B6ECB-F8B4-2DEC-3445-0731D13294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5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947BE6C6-911D-97B1-9FF0-E56E76CE1F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8F2F7-F867-3733-221D-9105DBD76686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 (16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BAA2ABD2-5DD0-5891-721C-8C35607EF2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1CE61-AEA2-6B2E-A6BA-E1FCC0F30308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E37F1E9B-DA02-8B04-5D66-6E70B18F87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3964B-EB89-8BAB-E7B2-D61619F5CBD2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F9D02078-C44D-FDC7-F016-AAA697B369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8842E0-94A4-7C95-6167-A4343D4F4EBC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</a:t>
            </a:r>
            <a:b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набирается меньшим кеглем, чем заголовок (16</a:t>
            </a:r>
            <a:r>
              <a:rPr lang="en-US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A4F7150B-29F6-E02B-DF03-A6CF1DAE1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3D227-70C3-C589-760B-7B2358309F01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817FAA25-7AFF-120D-E11E-23900BC36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27A0B-4041-FA0E-8E19-B1E358B43497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2" name="Текст 37">
            <a:extLst>
              <a:ext uri="{FF2B5EF4-FFF2-40B4-BE49-F238E27FC236}">
                <a16:creationId xmlns:a16="http://schemas.microsoft.com/office/drawing/2014/main" id="{54F64357-E931-2C80-4961-FDAC6AD52A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Заголовок 31">
            <a:extLst>
              <a:ext uri="{FF2B5EF4-FFF2-40B4-BE49-F238E27FC236}">
                <a16:creationId xmlns:a16="http://schemas.microsoft.com/office/drawing/2014/main" id="{B4ECCF55-736F-5DD2-72AF-D683B18FEC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48259-00E8-7932-5CD7-1A445FA86E5D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чистый_2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04E4D2A-55A2-2F42-5D5C-467DF3CA9C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Текст 37">
            <a:extLst>
              <a:ext uri="{FF2B5EF4-FFF2-40B4-BE49-F238E27FC236}">
                <a16:creationId xmlns:a16="http://schemas.microsoft.com/office/drawing/2014/main" id="{46122766-31E7-B290-0B7D-277417BEA3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6" name="Заголовок 31">
            <a:extLst>
              <a:ext uri="{FF2B5EF4-FFF2-40B4-BE49-F238E27FC236}">
                <a16:creationId xmlns:a16="http://schemas.microsoft.com/office/drawing/2014/main" id="{7A60AC51-9662-2A08-7297-1D1D3632C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C49F95-69E0-D3A2-1DD8-AED9B6E77AFE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110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4EF4727E-E2C9-E01B-F8F7-345AD903BF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чистый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70409579-9A00-AFB8-5E22-CD53B201BC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38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0" r:id="rId3"/>
    <p:sldLayoutId id="2147483663" r:id="rId4"/>
    <p:sldLayoutId id="2147483661" r:id="rId5"/>
    <p:sldLayoutId id="2147483650" r:id="rId6"/>
    <p:sldLayoutId id="2147483666" r:id="rId7"/>
    <p:sldLayoutId id="2147483651" r:id="rId8"/>
    <p:sldLayoutId id="2147483652" r:id="rId9"/>
    <p:sldLayoutId id="2147483654" r:id="rId10"/>
    <p:sldLayoutId id="2147483655" r:id="rId11"/>
    <p:sldLayoutId id="2147483656" r:id="rId12"/>
    <p:sldLayoutId id="2147483658" r:id="rId13"/>
    <p:sldLayoutId id="2147483657" r:id="rId14"/>
    <p:sldLayoutId id="2147483664" r:id="rId15"/>
    <p:sldLayoutId id="2147483659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A1E241-242E-DD0A-44F9-E3419A05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00E710-571C-98F6-BA66-BFF02C864F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543F12-E7D3-7DFF-16C2-422F9CF01F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Машинное обучение в цифровом продукте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0FD3B58-6E3C-E257-9131-75703D1101C7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DDD5D28-E949-BDF7-0BC3-F83B72DF02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Студент: Пак Александр Данилович</a:t>
            </a:r>
          </a:p>
          <a:p>
            <a:r>
              <a:rPr lang="ru-RU" dirty="0"/>
              <a:t>Руководитель: </a:t>
            </a:r>
            <a:r>
              <a:rPr lang="ru-RU" dirty="0" err="1"/>
              <a:t>Мунькина</a:t>
            </a:r>
            <a:r>
              <a:rPr lang="ru-RU" dirty="0"/>
              <a:t> Виктория Сергеевна, старший инженер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4832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92750C17-EFF5-B26D-8720-74693A868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Актуальность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3AB77EE-66AE-749D-86FE-10F7719C66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423118"/>
            <a:ext cx="4870988" cy="339323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Модели пишут код, отвечают на вопросы и выполняют действия в рамках агентов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Внутренние вычисления распределены между миллиардами параметров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Поведение трудно объяснить через отдельные нейроны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7D5CFB6A-1FDA-EE9E-879D-4BE2F656CE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ED8C05A2-DFD3-9C36-7CB3-F3E90F2FAC48}"/>
              </a:ext>
            </a:extLst>
          </p:cNvPr>
          <p:cNvSpPr/>
          <p:nvPr/>
        </p:nvSpPr>
        <p:spPr>
          <a:xfrm>
            <a:off x="5831458" y="1927360"/>
            <a:ext cx="5383713" cy="2800350"/>
          </a:xfrm>
          <a:prstGeom prst="roundRect">
            <a:avLst>
              <a:gd name="adj" fmla="val 4678"/>
            </a:avLst>
          </a:prstGeom>
          <a:solidFill>
            <a:srgbClr val="0F2C68"/>
          </a:solidFill>
          <a:ln/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BCF99A-72BE-9BD4-DC82-6A1108DB7659}"/>
              </a:ext>
            </a:extLst>
          </p:cNvPr>
          <p:cNvSpPr txBox="1"/>
          <p:nvPr/>
        </p:nvSpPr>
        <p:spPr>
          <a:xfrm>
            <a:off x="6149679" y="2434983"/>
            <a:ext cx="474726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200" dirty="0">
                <a:solidFill>
                  <a:schemeClr val="bg1"/>
                </a:solidFill>
                <a:latin typeface="HSE Sans" panose="02000000000000000000" pitchFamily="2" charset="0"/>
              </a:rPr>
              <a:t>Недостаточно знать качество работы на тестах - нужно понимать, какие признаки модель использует и можно ли заранее обнаружить нежелательное поведение.</a:t>
            </a:r>
          </a:p>
        </p:txBody>
      </p:sp>
    </p:spTree>
    <p:extLst>
      <p:ext uri="{BB962C8B-B14F-4D97-AF65-F5344CB8AC3E}">
        <p14:creationId xmlns:p14="http://schemas.microsoft.com/office/powerpoint/2010/main" val="261385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92750C17-EFF5-B26D-8720-74693A868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Цель и задачи работы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3AB77EE-66AE-749D-86FE-10F7719C66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379664"/>
            <a:ext cx="10534386" cy="643756"/>
          </a:xfrm>
        </p:spPr>
        <p:txBody>
          <a:bodyPr>
            <a:normAutofit lnSpcReduction="10000"/>
          </a:bodyPr>
          <a:lstStyle/>
          <a:p>
            <a:r>
              <a:rPr lang="ru-RU" sz="2000" b="1" dirty="0"/>
              <a:t>Цель:</a:t>
            </a:r>
            <a:r>
              <a:rPr lang="ru-RU" sz="2000" dirty="0"/>
              <a:t> проанализировать методы механистической интерпретируемости и воспроизвести основные этапы подхода с </a:t>
            </a:r>
            <a:r>
              <a:rPr lang="en" sz="2000" dirty="0"/>
              <a:t>SAE </a:t>
            </a:r>
            <a:r>
              <a:rPr lang="ru-RU" sz="2000" dirty="0"/>
              <a:t>на открытой модели</a:t>
            </a:r>
            <a:r>
              <a:rPr lang="en" sz="2000" dirty="0"/>
              <a:t>.</a:t>
            </a:r>
          </a:p>
        </p:txBody>
      </p:sp>
      <p:sp>
        <p:nvSpPr>
          <p:cNvPr id="2" name="Текст 12">
            <a:extLst>
              <a:ext uri="{FF2B5EF4-FFF2-40B4-BE49-F238E27FC236}">
                <a16:creationId xmlns:a16="http://schemas.microsoft.com/office/drawing/2014/main" id="{0E83D062-9790-5DA3-6285-1BB88C693392}"/>
              </a:ext>
            </a:extLst>
          </p:cNvPr>
          <p:cNvSpPr txBox="1">
            <a:spLocks/>
          </p:cNvSpPr>
          <p:nvPr/>
        </p:nvSpPr>
        <p:spPr>
          <a:xfrm>
            <a:off x="585898" y="3190825"/>
            <a:ext cx="874192" cy="378285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/>
              <a:t>Задачи:</a:t>
            </a:r>
            <a:endParaRPr lang="en" sz="2000" b="1" dirty="0"/>
          </a:p>
        </p:txBody>
      </p:sp>
      <p:sp>
        <p:nvSpPr>
          <p:cNvPr id="4" name="Текст 12">
            <a:extLst>
              <a:ext uri="{FF2B5EF4-FFF2-40B4-BE49-F238E27FC236}">
                <a16:creationId xmlns:a16="http://schemas.microsoft.com/office/drawing/2014/main" id="{DD57F447-0937-5B04-36D2-C66399956AEC}"/>
              </a:ext>
            </a:extLst>
          </p:cNvPr>
          <p:cNvSpPr txBox="1">
            <a:spLocks/>
          </p:cNvSpPr>
          <p:nvPr/>
        </p:nvSpPr>
        <p:spPr>
          <a:xfrm>
            <a:off x="585898" y="3569110"/>
            <a:ext cx="5510102" cy="2315496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ru-RU" sz="2000" dirty="0"/>
              <a:t>Разобрать гипотезу суперпозиции и </a:t>
            </a:r>
            <a:r>
              <a:rPr lang="ru-RU" sz="2000" dirty="0" err="1"/>
              <a:t>полисемантичность</a:t>
            </a:r>
            <a:r>
              <a:rPr lang="ru-RU" sz="2000" dirty="0"/>
              <a:t> нейронов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Изучить </a:t>
            </a:r>
            <a:r>
              <a:rPr lang="en" sz="2000" dirty="0"/>
              <a:t>SAE </a:t>
            </a:r>
            <a:r>
              <a:rPr lang="ru-RU" sz="2000" dirty="0"/>
              <a:t>как способ извлечения интерпретируемых признаков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Проанализировать масштабирование </a:t>
            </a:r>
            <a:r>
              <a:rPr lang="en" sz="2000" dirty="0"/>
              <a:t>SAE </a:t>
            </a:r>
            <a:r>
              <a:rPr lang="ru-RU" sz="2000" dirty="0"/>
              <a:t>и связь с безопасностью</a:t>
            </a:r>
          </a:p>
          <a:p>
            <a:endParaRPr lang="en" sz="2000" dirty="0"/>
          </a:p>
        </p:txBody>
      </p:sp>
      <p:sp>
        <p:nvSpPr>
          <p:cNvPr id="6" name="Текст 12">
            <a:extLst>
              <a:ext uri="{FF2B5EF4-FFF2-40B4-BE49-F238E27FC236}">
                <a16:creationId xmlns:a16="http://schemas.microsoft.com/office/drawing/2014/main" id="{22519AE8-3D58-6F99-1813-1297BB7352EA}"/>
              </a:ext>
            </a:extLst>
          </p:cNvPr>
          <p:cNvSpPr txBox="1">
            <a:spLocks/>
          </p:cNvSpPr>
          <p:nvPr/>
        </p:nvSpPr>
        <p:spPr>
          <a:xfrm>
            <a:off x="6096000" y="3569110"/>
            <a:ext cx="5510102" cy="2315496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4"/>
            </a:pPr>
            <a:r>
              <a:rPr lang="ru-RU" sz="2000" dirty="0"/>
              <a:t>Собрать активации </a:t>
            </a:r>
            <a:r>
              <a:rPr lang="en" sz="2000" dirty="0"/>
              <a:t>Qwen3-1.7B </a:t>
            </a:r>
            <a:r>
              <a:rPr lang="ru-RU" sz="2000" dirty="0"/>
              <a:t>и обучить </a:t>
            </a:r>
            <a:r>
              <a:rPr lang="en" sz="2000" dirty="0"/>
              <a:t>SAE </a:t>
            </a:r>
            <a:r>
              <a:rPr lang="ru-RU" sz="2000" dirty="0"/>
              <a:t>на выбранном слое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ru-RU" sz="2000" dirty="0"/>
              <a:t>Оценить качество </a:t>
            </a:r>
            <a:r>
              <a:rPr lang="en" sz="2000" dirty="0"/>
              <a:t>SAE </a:t>
            </a:r>
            <a:r>
              <a:rPr lang="ru-RU" sz="2000" dirty="0"/>
              <a:t>по метрикам реконструкции и разреженности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ru-RU" sz="2000" dirty="0"/>
              <a:t>Проверить </a:t>
            </a:r>
            <a:r>
              <a:rPr lang="en" sz="2000" dirty="0"/>
              <a:t>feature steering </a:t>
            </a:r>
            <a:r>
              <a:rPr lang="ru-RU" sz="2000" dirty="0"/>
              <a:t>-</a:t>
            </a:r>
            <a:r>
              <a:rPr lang="en" sz="2000" dirty="0"/>
              <a:t> </a:t>
            </a:r>
            <a:r>
              <a:rPr lang="ru-RU" sz="2000" dirty="0"/>
              <a:t>управление генерацией через признаки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EA453AD1-3CAB-16F3-25D7-0FF6EBAA7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2061790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92750C17-EFF5-B26D-8720-74693A868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5667418" cy="931873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Что такое признак и </a:t>
            </a:r>
            <a:r>
              <a:rPr lang="ru-RU" sz="2800" b="1" dirty="0" err="1"/>
              <a:t>полисемантичность</a:t>
            </a:r>
            <a:r>
              <a:rPr lang="ru-RU" sz="2800" b="1" dirty="0"/>
              <a:t> в рамках интерпретируемости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3AB77EE-66AE-749D-86FE-10F7719C66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4"/>
            <a:ext cx="10386903" cy="13610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Признак - </a:t>
            </a:r>
            <a:r>
              <a:rPr lang="ru-RU" sz="2000" dirty="0" err="1"/>
              <a:t>едница</a:t>
            </a:r>
            <a:r>
              <a:rPr lang="ru-RU" sz="2000" dirty="0"/>
              <a:t> внутреннего представления нейронной сети о мире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err="1"/>
              <a:t>Моносемантичность</a:t>
            </a:r>
            <a:r>
              <a:rPr lang="ru-RU" sz="2000" dirty="0"/>
              <a:t> - идеал: один нейрон соответствует одному признаку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err="1"/>
              <a:t>Полисемантичность</a:t>
            </a:r>
            <a:r>
              <a:rPr lang="ru-RU" sz="2000" dirty="0"/>
              <a:t> - нейрон активируется на несвязанные понятия и не интерпретируем</a:t>
            </a:r>
          </a:p>
        </p:txBody>
      </p:sp>
      <p:sp>
        <p:nvSpPr>
          <p:cNvPr id="2" name="Текст 13">
            <a:extLst>
              <a:ext uri="{FF2B5EF4-FFF2-40B4-BE49-F238E27FC236}">
                <a16:creationId xmlns:a16="http://schemas.microsoft.com/office/drawing/2014/main" id="{FE89EDE8-AD40-2D67-7E9F-78A0DC9983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A79B2AE-7747-CE99-B44D-82BA85146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337" y="3935861"/>
            <a:ext cx="7713326" cy="180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02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92750C17-EFF5-B26D-8720-74693A868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Гипотеза суперпозиции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3AB77EE-66AE-749D-86FE-10F7719C66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9502000" cy="180887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Признаков в данных больше, чем нейронов в сети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Сеть «упаковывает</a:t>
            </a:r>
            <a:r>
              <a:rPr lang="en-US" sz="1800" dirty="0"/>
              <a:t>»</a:t>
            </a:r>
            <a:r>
              <a:rPr lang="ru-RU" sz="1800" dirty="0"/>
              <a:t> признаки в нейроны, используя их редкую одновременную активацию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Поэтому несколько признаков совмещаются на одних нейронах, следовательно возникает </a:t>
            </a:r>
            <a:r>
              <a:rPr lang="ru-RU" sz="1800" dirty="0" err="1"/>
              <a:t>полисемантичность</a:t>
            </a:r>
            <a:endParaRPr lang="ru-RU" sz="1800" dirty="0"/>
          </a:p>
        </p:txBody>
      </p:sp>
      <p:sp>
        <p:nvSpPr>
          <p:cNvPr id="2" name="Текст 13">
            <a:extLst>
              <a:ext uri="{FF2B5EF4-FFF2-40B4-BE49-F238E27FC236}">
                <a16:creationId xmlns:a16="http://schemas.microsoft.com/office/drawing/2014/main" id="{FB3DF843-A060-8274-2B7C-7515680F2B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3270626B-4654-7449-8E77-C5B4A2933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337" y="4343389"/>
            <a:ext cx="7713326" cy="180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22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0CFEC-4B1B-99E9-6652-0A219FBEB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3F746583-5274-944D-BAA5-9F0704D89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5510102" cy="720223"/>
          </a:xfrm>
        </p:spPr>
        <p:txBody>
          <a:bodyPr>
            <a:normAutofit/>
          </a:bodyPr>
          <a:lstStyle/>
          <a:p>
            <a:r>
              <a:rPr lang="ru-RU" sz="2800" b="1" dirty="0"/>
              <a:t>Разреженные </a:t>
            </a:r>
            <a:r>
              <a:rPr lang="ru-RU" sz="2800" b="1" dirty="0" err="1"/>
              <a:t>автоэнкодеры</a:t>
            </a:r>
            <a:r>
              <a:rPr lang="ru-RU" sz="2800" b="1" dirty="0"/>
              <a:t> (</a:t>
            </a:r>
            <a:r>
              <a:rPr lang="en" sz="2800" b="1" dirty="0"/>
              <a:t>SAE)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E56A8A2D-B4BE-DF78-A148-B89BFF8324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Разложить активации </a:t>
            </a:r>
            <a:r>
              <a:rPr lang="en" sz="1800" dirty="0"/>
              <a:t>MLP-</a:t>
            </a:r>
            <a:r>
              <a:rPr lang="ru-RU" sz="1800" dirty="0"/>
              <a:t>слоя на разреженный, избыточный словарь признаков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Вектор активаций размерности 512 раскрывается в больший вектор описывающий признаки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На каждом токене активны лишь малое кол-во признаков что приближает нас к </a:t>
            </a:r>
            <a:r>
              <a:rPr lang="ru-RU" sz="1800" dirty="0" err="1"/>
              <a:t>моносемантичности</a:t>
            </a:r>
            <a:endParaRPr lang="ru-RU" sz="1800" dirty="0"/>
          </a:p>
        </p:txBody>
      </p:sp>
      <p:sp>
        <p:nvSpPr>
          <p:cNvPr id="2" name="Текст 13">
            <a:extLst>
              <a:ext uri="{FF2B5EF4-FFF2-40B4-BE49-F238E27FC236}">
                <a16:creationId xmlns:a16="http://schemas.microsoft.com/office/drawing/2014/main" id="{7D78C329-CC2E-CF74-5D5F-FD586C783F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3544DD1-0C2C-E767-6B87-CD3AA8AC00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830"/>
          <a:stretch>
            <a:fillRect/>
          </a:stretch>
        </p:blipFill>
        <p:spPr>
          <a:xfrm>
            <a:off x="6704031" y="2168013"/>
            <a:ext cx="4902071" cy="339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783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1F242-7CAF-C1F8-4035-E8A9F6254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4125563F-33A5-755F-E504-019964BD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5510102" cy="720223"/>
          </a:xfrm>
        </p:spPr>
        <p:txBody>
          <a:bodyPr>
            <a:normAutofit/>
          </a:bodyPr>
          <a:lstStyle/>
          <a:p>
            <a:r>
              <a:rPr lang="ru-RU" sz="2800" b="1" dirty="0"/>
              <a:t>Архитектура </a:t>
            </a:r>
            <a:r>
              <a:rPr lang="en" sz="2800" b="1" dirty="0"/>
              <a:t>SAE</a:t>
            </a:r>
          </a:p>
        </p:txBody>
      </p:sp>
      <p:sp>
        <p:nvSpPr>
          <p:cNvPr id="2" name="Текст 13">
            <a:extLst>
              <a:ext uri="{FF2B5EF4-FFF2-40B4-BE49-F238E27FC236}">
                <a16:creationId xmlns:a16="http://schemas.microsoft.com/office/drawing/2014/main" id="{A57F1511-FF80-BBB6-5735-18281C8AD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C0155FEF-E1DD-18DE-27A8-95141A367192}"/>
              </a:ext>
            </a:extLst>
          </p:cNvPr>
          <p:cNvSpPr/>
          <p:nvPr/>
        </p:nvSpPr>
        <p:spPr>
          <a:xfrm>
            <a:off x="585899" y="2779855"/>
            <a:ext cx="5210218" cy="720223"/>
          </a:xfrm>
          <a:prstGeom prst="roundRect">
            <a:avLst>
              <a:gd name="adj" fmla="val 15000"/>
            </a:avLst>
          </a:prstGeom>
          <a:solidFill>
            <a:srgbClr val="EEF2FA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EF2FC6D8-ACEA-891C-DECB-CE1F658A7819}"/>
              </a:ext>
            </a:extLst>
          </p:cNvPr>
          <p:cNvSpPr/>
          <p:nvPr/>
        </p:nvSpPr>
        <p:spPr>
          <a:xfrm>
            <a:off x="862123" y="2976153"/>
            <a:ext cx="4447296" cy="41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F2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ReLU(</a:t>
            </a:r>
            <a:r>
              <a:rPr lang="en-US" sz="2025" dirty="0" err="1">
                <a:solidFill>
                  <a:srgbClr val="0F2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W_enc</a:t>
            </a:r>
            <a:r>
              <a:rPr lang="en-US" sz="2025" dirty="0">
                <a:solidFill>
                  <a:srgbClr val="0F2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x + b_enc)</a:t>
            </a:r>
            <a:endParaRPr lang="en-US" sz="2025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0958C6C8-6CD5-4E17-2793-B1EC6FAD52F7}"/>
              </a:ext>
            </a:extLst>
          </p:cNvPr>
          <p:cNvSpPr/>
          <p:nvPr/>
        </p:nvSpPr>
        <p:spPr>
          <a:xfrm>
            <a:off x="585899" y="4151455"/>
            <a:ext cx="5210218" cy="762000"/>
          </a:xfrm>
          <a:prstGeom prst="roundRect">
            <a:avLst>
              <a:gd name="adj" fmla="val 15000"/>
            </a:avLst>
          </a:prstGeom>
          <a:solidFill>
            <a:srgbClr val="EEF2FA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8FDED06E-2AA5-EF29-72DC-659892ED5005}"/>
              </a:ext>
            </a:extLst>
          </p:cNvPr>
          <p:cNvSpPr/>
          <p:nvPr/>
        </p:nvSpPr>
        <p:spPr>
          <a:xfrm>
            <a:off x="862123" y="4346461"/>
            <a:ext cx="4447296" cy="404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F2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x’ = </a:t>
            </a:r>
            <a:r>
              <a:rPr lang="en-US" sz="2025" dirty="0" err="1">
                <a:solidFill>
                  <a:srgbClr val="0F2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W_dec</a:t>
            </a:r>
            <a:r>
              <a:rPr lang="en-US" sz="2025" dirty="0">
                <a:solidFill>
                  <a:srgbClr val="0F2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2025" dirty="0">
                <a:solidFill>
                  <a:srgbClr val="0F2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2025" dirty="0">
                <a:solidFill>
                  <a:srgbClr val="0F2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 + b_dec</a:t>
            </a:r>
            <a:endParaRPr lang="en-US" sz="2025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702163-63D7-1D3B-B8AE-8348C5961D6F}"/>
              </a:ext>
            </a:extLst>
          </p:cNvPr>
          <p:cNvSpPr txBox="1"/>
          <p:nvPr/>
        </p:nvSpPr>
        <p:spPr>
          <a:xfrm>
            <a:off x="585898" y="2293990"/>
            <a:ext cx="2005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000" dirty="0">
                <a:latin typeface="HSE Sans" panose="02000000000000000000" pitchFamily="2" charset="0"/>
              </a:rPr>
              <a:t>Энкодер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FE713F-8165-23AB-56CA-01E968ADC135}"/>
              </a:ext>
            </a:extLst>
          </p:cNvPr>
          <p:cNvSpPr txBox="1"/>
          <p:nvPr/>
        </p:nvSpPr>
        <p:spPr>
          <a:xfrm>
            <a:off x="585898" y="3742874"/>
            <a:ext cx="2005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000" dirty="0">
                <a:latin typeface="HSE Sans" panose="02000000000000000000" pitchFamily="2" charset="0"/>
              </a:rPr>
              <a:t>Декодер</a:t>
            </a:r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DD33AF40-B2A5-DDF2-6517-2E7310928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920" y="2056660"/>
            <a:ext cx="5348181" cy="377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51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5F707-F81E-80A5-6612-582450EB2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5051570B-672A-1551-EE51-DADA9816C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6109870" cy="572739"/>
          </a:xfrm>
        </p:spPr>
        <p:txBody>
          <a:bodyPr>
            <a:normAutofit/>
          </a:bodyPr>
          <a:lstStyle/>
          <a:p>
            <a:r>
              <a:rPr lang="ru-RU" sz="2800" b="1" dirty="0"/>
              <a:t>Функция потерь и метрики качества</a:t>
            </a:r>
          </a:p>
        </p:txBody>
      </p:sp>
      <p:sp>
        <p:nvSpPr>
          <p:cNvPr id="2" name="Текст 13">
            <a:extLst>
              <a:ext uri="{FF2B5EF4-FFF2-40B4-BE49-F238E27FC236}">
                <a16:creationId xmlns:a16="http://schemas.microsoft.com/office/drawing/2014/main" id="{8A137CF7-98ED-B6F8-20D1-16884F66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262BDDE-30A2-AFF8-9792-87D3F32C8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12478"/>
            <a:ext cx="7772400" cy="14165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41F6CC-D9AA-6B49-A876-BD1601ADBD35}"/>
              </a:ext>
            </a:extLst>
          </p:cNvPr>
          <p:cNvSpPr txBox="1"/>
          <p:nvPr/>
        </p:nvSpPr>
        <p:spPr>
          <a:xfrm>
            <a:off x="569653" y="3428999"/>
            <a:ext cx="72027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000" b="1" dirty="0">
                <a:latin typeface="HSE Sans" panose="02000000000000000000" pitchFamily="2" charset="0"/>
              </a:rPr>
              <a:t>Метрики качества: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dirty="0">
                <a:latin typeface="HSE Sans" panose="02000000000000000000" pitchFamily="2" charset="0"/>
              </a:rPr>
              <a:t>Оценка реконструкции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b="1" dirty="0">
                <a:latin typeface="HSE Sans" panose="02000000000000000000" pitchFamily="2" charset="0"/>
              </a:rPr>
              <a:t>reconstruction score </a:t>
            </a:r>
            <a:endParaRPr lang="ru-RU" sz="2000" b="1" dirty="0">
              <a:latin typeface="HSE Sans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HSE Sans" panose="02000000000000000000" pitchFamily="2" charset="0"/>
              </a:rPr>
              <a:t>MSE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HSE Sans" panose="02000000000000000000" pitchFamily="2" charset="0"/>
              </a:rPr>
              <a:t>Оценка разреженности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HSE Sans" panose="02000000000000000000" pitchFamily="2" charset="0"/>
              </a:rPr>
              <a:t>L0 - </a:t>
            </a:r>
            <a:r>
              <a:rPr lang="ru-RU" sz="2000" b="1" dirty="0">
                <a:latin typeface="HSE Sans" panose="02000000000000000000" pitchFamily="2" charset="0"/>
              </a:rPr>
              <a:t>число активных признаков на токен</a:t>
            </a:r>
            <a:endParaRPr lang="en-US" sz="2000" b="1" dirty="0">
              <a:latin typeface="HSE Sans" panose="020000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HSE Sans" panose="02000000000000000000" pitchFamily="2" charset="0"/>
              </a:rPr>
              <a:t>Оценка интерпретируемости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HSE Sans" panose="02000000000000000000" pitchFamily="2" charset="0"/>
              </a:rPr>
              <a:t>LLM-as-a-Judge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D27C50-5A1B-7546-CA53-1C4603C54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670915"/>
            <a:ext cx="3103733" cy="107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764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497A9-7AC0-7582-ACB8-60C89A86D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0D2304A4-B7FB-7E04-5359-090AC97D9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1"/>
            <a:ext cx="7879676" cy="602236"/>
          </a:xfrm>
        </p:spPr>
        <p:txBody>
          <a:bodyPr>
            <a:normAutofit/>
          </a:bodyPr>
          <a:lstStyle/>
          <a:p>
            <a:r>
              <a:rPr lang="ru-RU" sz="2800" b="1" dirty="0"/>
              <a:t>Масштабирование</a:t>
            </a:r>
            <a:r>
              <a:rPr lang="en-US" sz="2800" b="1" dirty="0"/>
              <a:t> </a:t>
            </a:r>
            <a:r>
              <a:rPr lang="ru-RU" sz="2800" b="1" dirty="0"/>
              <a:t>на промышленные модели</a:t>
            </a:r>
          </a:p>
        </p:txBody>
      </p:sp>
      <p:sp>
        <p:nvSpPr>
          <p:cNvPr id="2" name="Текст 13">
            <a:extLst>
              <a:ext uri="{FF2B5EF4-FFF2-40B4-BE49-F238E27FC236}">
                <a16:creationId xmlns:a16="http://schemas.microsoft.com/office/drawing/2014/main" id="{954562BB-1771-3828-2B38-638FB7786F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C0F966-5E8D-F1C2-19FF-F94254EE5C87}"/>
              </a:ext>
            </a:extLst>
          </p:cNvPr>
          <p:cNvSpPr txBox="1"/>
          <p:nvPr/>
        </p:nvSpPr>
        <p:spPr>
          <a:xfrm>
            <a:off x="569653" y="2050027"/>
            <a:ext cx="108013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000" dirty="0">
                <a:latin typeface="HSE Sans" panose="02000000000000000000" pitchFamily="2" charset="0"/>
              </a:rPr>
              <a:t>Статья </a:t>
            </a:r>
            <a:r>
              <a:rPr lang="en" sz="2000" dirty="0">
                <a:latin typeface="HSE Sans" panose="02000000000000000000" pitchFamily="2" charset="0"/>
              </a:rPr>
              <a:t>«Scaling </a:t>
            </a:r>
            <a:r>
              <a:rPr lang="en" sz="2000" dirty="0" err="1">
                <a:latin typeface="HSE Sans" panose="02000000000000000000" pitchFamily="2" charset="0"/>
              </a:rPr>
              <a:t>Monosemanticity</a:t>
            </a:r>
            <a:r>
              <a:rPr lang="en" sz="2000" dirty="0">
                <a:latin typeface="HSE Sans" panose="02000000000000000000" pitchFamily="2" charset="0"/>
              </a:rPr>
              <a:t>: Extracting Interpretable Features from Claude 3 Sonnet» </a:t>
            </a:r>
            <a:r>
              <a:rPr lang="ru-RU" sz="2000" dirty="0">
                <a:latin typeface="HSE Sans" panose="02000000000000000000" pitchFamily="2" charset="0"/>
              </a:rPr>
              <a:t>переносит </a:t>
            </a:r>
            <a:r>
              <a:rPr lang="en" sz="2000" dirty="0">
                <a:latin typeface="HSE Sans" panose="02000000000000000000" pitchFamily="2" charset="0"/>
              </a:rPr>
              <a:t>SAE </a:t>
            </a:r>
            <a:r>
              <a:rPr lang="ru-RU" sz="2000" dirty="0">
                <a:latin typeface="HSE Sans" panose="02000000000000000000" pitchFamily="2" charset="0"/>
              </a:rPr>
              <a:t>на </a:t>
            </a:r>
            <a:r>
              <a:rPr lang="en" sz="2000" dirty="0">
                <a:latin typeface="HSE Sans" panose="02000000000000000000" pitchFamily="2" charset="0"/>
              </a:rPr>
              <a:t>Claude 3 Sonnet. </a:t>
            </a:r>
            <a:r>
              <a:rPr lang="ru-RU" sz="2000" dirty="0">
                <a:latin typeface="HSE Sans" panose="02000000000000000000" pitchFamily="2" charset="0"/>
              </a:rPr>
              <a:t>Признак «</a:t>
            </a:r>
            <a:r>
              <a:rPr lang="en" sz="2000" dirty="0">
                <a:latin typeface="HSE Sans" panose="02000000000000000000" pitchFamily="2" charset="0"/>
              </a:rPr>
              <a:t>Golden Gate Bridge» </a:t>
            </a:r>
            <a:r>
              <a:rPr lang="ru-RU" sz="2000" dirty="0">
                <a:latin typeface="HSE Sans" panose="02000000000000000000" pitchFamily="2" charset="0"/>
              </a:rPr>
              <a:t>активируется на текст, изображения и смежные понятия. При усилении данного признака в 10 раз, модель называет себя мостом в ответ на любой запрос.</a:t>
            </a: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F48A9134-3DEB-C0D6-28F4-453464919F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073" r="-8073"/>
          <a:stretch/>
        </p:blipFill>
        <p:spPr>
          <a:xfrm>
            <a:off x="160341" y="3314709"/>
            <a:ext cx="11462006" cy="307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275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0457E-593B-1C51-6EC8-24952F671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909B4694-E367-667F-8B70-13C06991B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1"/>
            <a:ext cx="7879676" cy="602236"/>
          </a:xfrm>
        </p:spPr>
        <p:txBody>
          <a:bodyPr>
            <a:normAutofit/>
          </a:bodyPr>
          <a:lstStyle/>
          <a:p>
            <a:r>
              <a:rPr lang="ru-RU" sz="2800" b="1" dirty="0"/>
              <a:t>Признаки, связанные с безопасностью</a:t>
            </a:r>
          </a:p>
        </p:txBody>
      </p:sp>
      <p:sp>
        <p:nvSpPr>
          <p:cNvPr id="2" name="Текст 13">
            <a:extLst>
              <a:ext uri="{FF2B5EF4-FFF2-40B4-BE49-F238E27FC236}">
                <a16:creationId xmlns:a16="http://schemas.microsoft.com/office/drawing/2014/main" id="{7A9EEB9D-738E-6C7E-2DD5-B57E1B779D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8A189C-F208-3AF5-332C-82F0D6BF2F6F}"/>
              </a:ext>
            </a:extLst>
          </p:cNvPr>
          <p:cNvSpPr txBox="1"/>
          <p:nvPr/>
        </p:nvSpPr>
        <p:spPr>
          <a:xfrm>
            <a:off x="585898" y="2050027"/>
            <a:ext cx="110202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dirty="0">
                <a:latin typeface="HSE Sans" panose="02000000000000000000" pitchFamily="2" charset="0"/>
              </a:rPr>
              <a:t>Наличие такого признака не означает, что модель опасна, это позволяет отслеживать, контролировать поведение.</a:t>
            </a:r>
            <a:endParaRPr lang="en" sz="2400" dirty="0">
              <a:latin typeface="HSE Sans" panose="02000000000000000000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187191-4B27-FAD1-7C92-E84D38F24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90" y="3429000"/>
            <a:ext cx="10518420" cy="226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80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46417-CB7F-146E-F728-24608264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880F5D66-7140-8F63-105C-4BC6EAB6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1"/>
            <a:ext cx="7879676" cy="602236"/>
          </a:xfrm>
        </p:spPr>
        <p:txBody>
          <a:bodyPr>
            <a:normAutofit/>
          </a:bodyPr>
          <a:lstStyle/>
          <a:p>
            <a:r>
              <a:rPr lang="ru-RU" sz="2800" b="1" dirty="0"/>
              <a:t>Признаки, связанные с безопасностью</a:t>
            </a:r>
          </a:p>
        </p:txBody>
      </p:sp>
      <p:sp>
        <p:nvSpPr>
          <p:cNvPr id="2" name="Текст 13">
            <a:extLst>
              <a:ext uri="{FF2B5EF4-FFF2-40B4-BE49-F238E27FC236}">
                <a16:creationId xmlns:a16="http://schemas.microsoft.com/office/drawing/2014/main" id="{9C69A6F6-6EAD-58B9-2D02-EF6D25FD02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F050DE-7E4F-396E-B1EF-5105B3CD4FB0}"/>
              </a:ext>
            </a:extLst>
          </p:cNvPr>
          <p:cNvSpPr txBox="1"/>
          <p:nvPr/>
        </p:nvSpPr>
        <p:spPr>
          <a:xfrm>
            <a:off x="585898" y="2050027"/>
            <a:ext cx="110202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dirty="0">
                <a:latin typeface="HSE Sans" panose="02000000000000000000" pitchFamily="2" charset="0"/>
              </a:rPr>
              <a:t>Наличие такого признака не означает, что модель опасна, это позволяет отслеживать, контролировать поведение.</a:t>
            </a:r>
            <a:endParaRPr lang="en" sz="2400" dirty="0">
              <a:latin typeface="HSE Sans" panose="02000000000000000000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6C0A6B-09E8-2FA8-8B7E-A60A9EAAD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90" y="3429000"/>
            <a:ext cx="10518420" cy="226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60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25D6D-342A-98B6-0681-3AFF20319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C725DBFC-8B91-638F-E9AD-9B39A60D2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1"/>
            <a:ext cx="7879676" cy="602236"/>
          </a:xfrm>
        </p:spPr>
        <p:txBody>
          <a:bodyPr>
            <a:normAutofit/>
          </a:bodyPr>
          <a:lstStyle/>
          <a:p>
            <a:r>
              <a:rPr lang="ru-RU" sz="2800" b="1" dirty="0"/>
              <a:t>Признаки, связанные с безопасностью</a:t>
            </a:r>
          </a:p>
        </p:txBody>
      </p:sp>
      <p:sp>
        <p:nvSpPr>
          <p:cNvPr id="2" name="Текст 13">
            <a:extLst>
              <a:ext uri="{FF2B5EF4-FFF2-40B4-BE49-F238E27FC236}">
                <a16:creationId xmlns:a16="http://schemas.microsoft.com/office/drawing/2014/main" id="{B65C1C5C-5965-307E-0396-52F6901A6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2E3834-4C68-5106-21AC-CAAB701FDF8A}"/>
              </a:ext>
            </a:extLst>
          </p:cNvPr>
          <p:cNvSpPr txBox="1"/>
          <p:nvPr/>
        </p:nvSpPr>
        <p:spPr>
          <a:xfrm>
            <a:off x="585898" y="2050027"/>
            <a:ext cx="110202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dirty="0">
                <a:latin typeface="HSE Sans" panose="02000000000000000000" pitchFamily="2" charset="0"/>
              </a:rPr>
              <a:t>Наличие такого признака не означает, что модель опасна, это позволяет отслеживать, контролировать поведение.</a:t>
            </a:r>
            <a:endParaRPr lang="en" sz="2400" dirty="0">
              <a:latin typeface="HSE Sans" panose="02000000000000000000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6D13B7-0543-F189-EC8C-7D6D64E41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316" y="2881024"/>
            <a:ext cx="9389367" cy="363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705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D26CD-2873-3341-A3AD-0A616EEDF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77A81192-A42D-1AD7-0ECA-7B8B8587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1"/>
            <a:ext cx="7879676" cy="602236"/>
          </a:xfrm>
        </p:spPr>
        <p:txBody>
          <a:bodyPr>
            <a:normAutofit/>
          </a:bodyPr>
          <a:lstStyle/>
          <a:p>
            <a:r>
              <a:rPr lang="ru-RU" sz="2800" b="1" dirty="0"/>
              <a:t>Признаки, связанные с безопасностью</a:t>
            </a:r>
          </a:p>
        </p:txBody>
      </p:sp>
      <p:sp>
        <p:nvSpPr>
          <p:cNvPr id="2" name="Текст 13">
            <a:extLst>
              <a:ext uri="{FF2B5EF4-FFF2-40B4-BE49-F238E27FC236}">
                <a16:creationId xmlns:a16="http://schemas.microsoft.com/office/drawing/2014/main" id="{049B8325-2341-7097-D036-B4E879DCA6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DF2E88-C475-B633-2EA6-CC5612C2226E}"/>
              </a:ext>
            </a:extLst>
          </p:cNvPr>
          <p:cNvSpPr txBox="1"/>
          <p:nvPr/>
        </p:nvSpPr>
        <p:spPr>
          <a:xfrm>
            <a:off x="585898" y="2050027"/>
            <a:ext cx="110202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dirty="0">
                <a:latin typeface="HSE Sans" panose="02000000000000000000" pitchFamily="2" charset="0"/>
              </a:rPr>
              <a:t>Наличие такого признака не означает, что модель опасна, это позволяет отслеживать, контролировать поведение.</a:t>
            </a:r>
            <a:endParaRPr lang="en" sz="2400" dirty="0">
              <a:latin typeface="HSE Sans" panose="02000000000000000000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B7E524-A1B2-B932-2D8B-B755FF495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697" y="2999011"/>
            <a:ext cx="6248605" cy="359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52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140B0-EC35-71AE-7C79-92AF35897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0CF94030-934B-A3B6-D9E7-C21FBFE6A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1"/>
            <a:ext cx="6847289" cy="602236"/>
          </a:xfrm>
        </p:spPr>
        <p:txBody>
          <a:bodyPr>
            <a:normAutofit/>
          </a:bodyPr>
          <a:lstStyle/>
          <a:p>
            <a:r>
              <a:rPr lang="en" sz="2800" b="1" dirty="0"/>
              <a:t>Feature steering: </a:t>
            </a:r>
            <a:r>
              <a:rPr lang="ru-RU" sz="2800" b="1" dirty="0"/>
              <a:t>управление поведением</a:t>
            </a:r>
          </a:p>
        </p:txBody>
      </p:sp>
      <p:sp>
        <p:nvSpPr>
          <p:cNvPr id="2" name="Текст 13">
            <a:extLst>
              <a:ext uri="{FF2B5EF4-FFF2-40B4-BE49-F238E27FC236}">
                <a16:creationId xmlns:a16="http://schemas.microsoft.com/office/drawing/2014/main" id="{D9A05E46-8C5F-4A1A-6B61-424B18B949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137EE9-A791-F066-D053-5CFEAA1F3A66}"/>
              </a:ext>
            </a:extLst>
          </p:cNvPr>
          <p:cNvSpPr txBox="1"/>
          <p:nvPr/>
        </p:nvSpPr>
        <p:spPr>
          <a:xfrm>
            <a:off x="585897" y="2050027"/>
            <a:ext cx="61098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dirty="0">
                <a:latin typeface="HSE Sans" panose="02000000000000000000" pitchFamily="2" charset="0"/>
              </a:rPr>
              <a:t>Изменение поведения через вмешательство в признаки во время </a:t>
            </a:r>
            <a:r>
              <a:rPr lang="ru-RU" sz="2400" dirty="0" err="1">
                <a:latin typeface="HSE Sans" panose="02000000000000000000" pitchFamily="2" charset="0"/>
              </a:rPr>
              <a:t>инференса</a:t>
            </a:r>
            <a:endParaRPr lang="en-US" sz="2400" dirty="0">
              <a:latin typeface="HSE Sans" panose="02000000000000000000" pitchFamily="2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" sz="2400" dirty="0">
                <a:latin typeface="HSE Sans" panose="02000000000000000000" pitchFamily="2" charset="0"/>
              </a:rPr>
              <a:t>Activation clamping: </a:t>
            </a:r>
            <a:r>
              <a:rPr lang="ru-RU" sz="2400" dirty="0">
                <a:latin typeface="HSE Sans" panose="02000000000000000000" pitchFamily="2" charset="0"/>
              </a:rPr>
              <a:t>активация признака </a:t>
            </a:r>
            <a:r>
              <a:rPr lang="en" sz="2400" dirty="0">
                <a:latin typeface="HSE Sans" panose="02000000000000000000" pitchFamily="2" charset="0"/>
              </a:rPr>
              <a:t>j </a:t>
            </a:r>
            <a:r>
              <a:rPr lang="ru-RU" sz="2400" dirty="0">
                <a:latin typeface="HSE Sans" panose="02000000000000000000" pitchFamily="2" charset="0"/>
              </a:rPr>
              <a:t>фиксируется на уровне </a:t>
            </a:r>
            <a:r>
              <a:rPr lang="en" sz="2400" dirty="0">
                <a:latin typeface="HSE Sans" panose="02000000000000000000" pitchFamily="2" charset="0"/>
              </a:rPr>
              <a:t>c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" sz="2400" dirty="0">
              <a:latin typeface="HSE Sans" panose="02000000000000000000" pitchFamily="2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sz="2400" dirty="0">
              <a:latin typeface="HSE Sans" panose="02000000000000000000" pitchFamily="2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dirty="0">
                <a:latin typeface="HSE Sans" panose="02000000000000000000" pitchFamily="2" charset="0"/>
              </a:rPr>
              <a:t>Меняет генерацию без переобучения модели</a:t>
            </a: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EA9E438-84AD-47A0-B938-C61FA12CB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024" y="1763657"/>
            <a:ext cx="3688748" cy="460764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EE8F23-CD7C-58F2-937E-6CB1FC56B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223" y="3952978"/>
            <a:ext cx="1588319" cy="64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407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CA26E-88D1-B7AF-99A9-CAC11386A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CC96D94D-3CF4-2F62-C0D9-6DAFA20AD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1"/>
            <a:ext cx="6847289" cy="602236"/>
          </a:xfrm>
        </p:spPr>
        <p:txBody>
          <a:bodyPr>
            <a:normAutofit/>
          </a:bodyPr>
          <a:lstStyle/>
          <a:p>
            <a:r>
              <a:rPr lang="ru-RU" sz="2800" b="1" dirty="0"/>
              <a:t>Постановка эксперимента</a:t>
            </a:r>
          </a:p>
        </p:txBody>
      </p:sp>
      <p:sp>
        <p:nvSpPr>
          <p:cNvPr id="2" name="Текст 13">
            <a:extLst>
              <a:ext uri="{FF2B5EF4-FFF2-40B4-BE49-F238E27FC236}">
                <a16:creationId xmlns:a16="http://schemas.microsoft.com/office/drawing/2014/main" id="{E72ABB30-FAF4-0C6A-3B71-18E237EABE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CFD3C-3101-A425-F88A-5A47250F7BFD}"/>
              </a:ext>
            </a:extLst>
          </p:cNvPr>
          <p:cNvSpPr txBox="1"/>
          <p:nvPr/>
        </p:nvSpPr>
        <p:spPr>
          <a:xfrm>
            <a:off x="585897" y="4810044"/>
            <a:ext cx="5652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000" dirty="0">
                <a:latin typeface="HSE Sans" panose="02000000000000000000" pitchFamily="2" charset="0"/>
              </a:rPr>
              <a:t>SAE </a:t>
            </a:r>
            <a:r>
              <a:rPr lang="ru-RU" sz="2000" dirty="0">
                <a:latin typeface="HSE Sans" panose="02000000000000000000" pitchFamily="2" charset="0"/>
              </a:rPr>
              <a:t>обучается на выходе 14-го слоя из 28 </a:t>
            </a:r>
            <a:r>
              <a:rPr lang="en-US" sz="2000" dirty="0">
                <a:latin typeface="HSE Sans" panose="02000000000000000000" pitchFamily="2" charset="0"/>
              </a:rPr>
              <a:t>-</a:t>
            </a:r>
            <a:r>
              <a:rPr lang="ru-RU" sz="2000" dirty="0">
                <a:latin typeface="HSE Sans" panose="02000000000000000000" pitchFamily="2" charset="0"/>
              </a:rPr>
              <a:t> среднем слое модели, как в исходной статье</a:t>
            </a:r>
            <a:endParaRPr lang="en" sz="2000" dirty="0">
              <a:latin typeface="HSE Sans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5E9B5B-CFFF-C3F2-D9DE-E9BD009F0AC3}"/>
              </a:ext>
            </a:extLst>
          </p:cNvPr>
          <p:cNvSpPr txBox="1"/>
          <p:nvPr/>
        </p:nvSpPr>
        <p:spPr>
          <a:xfrm>
            <a:off x="585898" y="2050027"/>
            <a:ext cx="56526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latin typeface="HSE Sans" panose="02000000000000000000" pitchFamily="2" charset="0"/>
              </a:rPr>
              <a:t>Полное воспроизведение работы </a:t>
            </a:r>
            <a:r>
              <a:rPr lang="en" sz="2000" dirty="0">
                <a:latin typeface="HSE Sans" panose="02000000000000000000" pitchFamily="2" charset="0"/>
              </a:rPr>
              <a:t>Anthropic </a:t>
            </a:r>
            <a:r>
              <a:rPr lang="ru-RU" sz="2000" dirty="0">
                <a:latin typeface="HSE Sans" panose="02000000000000000000" pitchFamily="2" charset="0"/>
              </a:rPr>
              <a:t>невозможно, т.к. </a:t>
            </a:r>
            <a:r>
              <a:rPr lang="en" sz="2000" dirty="0">
                <a:latin typeface="HSE Sans" panose="02000000000000000000" pitchFamily="2" charset="0"/>
              </a:rPr>
              <a:t>Claude </a:t>
            </a:r>
            <a:r>
              <a:rPr lang="ru-RU" sz="2000" dirty="0">
                <a:latin typeface="HSE Sans" panose="02000000000000000000" pitchFamily="2" charset="0"/>
              </a:rPr>
              <a:t>является закрытой моделью, используем открытую </a:t>
            </a:r>
            <a:r>
              <a:rPr lang="en" sz="2000" dirty="0">
                <a:latin typeface="HSE Sans" panose="02000000000000000000" pitchFamily="2" charset="0"/>
              </a:rPr>
              <a:t>Qwen3-1.7B.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67267E-0C1C-0D08-86B1-F427E4C9ACC9}"/>
              </a:ext>
            </a:extLst>
          </p:cNvPr>
          <p:cNvSpPr txBox="1"/>
          <p:nvPr/>
        </p:nvSpPr>
        <p:spPr>
          <a:xfrm>
            <a:off x="585897" y="3065690"/>
            <a:ext cx="609845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latin typeface="HSE Sans" panose="02000000000000000000" pitchFamily="2" charset="0"/>
              </a:rPr>
              <a:t>Проделаны следующие шаги</a:t>
            </a:r>
            <a:r>
              <a:rPr lang="en-US" sz="2000" dirty="0">
                <a:latin typeface="HSE Sans" panose="02000000000000000000" pitchFamily="2" charset="0"/>
              </a:rPr>
              <a:t>:</a:t>
            </a:r>
            <a:endParaRPr lang="ru-RU" sz="2000" dirty="0">
              <a:latin typeface="HSE Sans" panose="02000000000000000000" pitchFamily="2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>
                <a:latin typeface="HSE Sans" panose="02000000000000000000" pitchFamily="2" charset="0"/>
              </a:rPr>
              <a:t>Сбор данных для </a:t>
            </a:r>
            <a:r>
              <a:rPr lang="en-US" sz="2000" dirty="0">
                <a:latin typeface="HSE Sans" panose="02000000000000000000" pitchFamily="2" charset="0"/>
              </a:rPr>
              <a:t>SAE</a:t>
            </a:r>
            <a:endParaRPr lang="ru-RU" sz="2000" dirty="0">
              <a:latin typeface="HSE Sans" panose="02000000000000000000" pitchFamily="2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>
                <a:latin typeface="HSE Sans" panose="02000000000000000000" pitchFamily="2" charset="0"/>
              </a:rPr>
              <a:t>Обучение </a:t>
            </a:r>
            <a:r>
              <a:rPr lang="en" sz="2000" dirty="0">
                <a:latin typeface="HSE Sans" panose="02000000000000000000" pitchFamily="2" charset="0"/>
              </a:rPr>
              <a:t>SAE</a:t>
            </a:r>
            <a:endParaRPr lang="ru-RU" sz="2000" dirty="0">
              <a:latin typeface="HSE Sans" panose="02000000000000000000" pitchFamily="2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>
                <a:latin typeface="HSE Sans" panose="02000000000000000000" pitchFamily="2" charset="0"/>
              </a:rPr>
              <a:t>Оценка</a:t>
            </a:r>
          </a:p>
          <a:p>
            <a:pPr marL="914400" lvl="1" indent="-457200">
              <a:buFont typeface="+mj-lt"/>
              <a:buAutoNum type="arabicPeriod"/>
            </a:pPr>
            <a:r>
              <a:rPr lang="en" sz="2000" dirty="0">
                <a:latin typeface="HSE Sans" panose="02000000000000000000" pitchFamily="2" charset="0"/>
              </a:rPr>
              <a:t>Feature steering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318E9FF3-044F-67E5-E4EB-9DBE9F110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180423"/>
              </p:ext>
            </p:extLst>
          </p:nvPr>
        </p:nvGraphicFramePr>
        <p:xfrm>
          <a:off x="6684354" y="2050027"/>
          <a:ext cx="4921748" cy="2757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0874">
                  <a:extLst>
                    <a:ext uri="{9D8B030D-6E8A-4147-A177-3AD203B41FA5}">
                      <a16:colId xmlns:a16="http://schemas.microsoft.com/office/drawing/2014/main" val="322703609"/>
                    </a:ext>
                  </a:extLst>
                </a:gridCol>
                <a:gridCol w="2460874">
                  <a:extLst>
                    <a:ext uri="{9D8B030D-6E8A-4147-A177-3AD203B41FA5}">
                      <a16:colId xmlns:a16="http://schemas.microsoft.com/office/drawing/2014/main" val="546690841"/>
                    </a:ext>
                  </a:extLst>
                </a:gridCol>
              </a:tblGrid>
              <a:tr h="551589">
                <a:tc>
                  <a:txBody>
                    <a:bodyPr/>
                    <a:lstStyle/>
                    <a:p>
                      <a:r>
                        <a:rPr lang="ru-RU" dirty="0"/>
                        <a:t>Модель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" dirty="0"/>
                        <a:t>Qwen3-1.7B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6440"/>
                  </a:ext>
                </a:extLst>
              </a:tr>
              <a:tr h="551589">
                <a:tc>
                  <a:txBody>
                    <a:bodyPr/>
                    <a:lstStyle/>
                    <a:p>
                      <a:r>
                        <a:rPr lang="ru-RU" dirty="0"/>
                        <a:t>Датасет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" dirty="0" err="1"/>
                        <a:t>OpenWebText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297752"/>
                  </a:ext>
                </a:extLst>
              </a:tr>
              <a:tr h="551589">
                <a:tc>
                  <a:txBody>
                    <a:bodyPr/>
                    <a:lstStyle/>
                    <a:p>
                      <a:r>
                        <a:rPr lang="ru-RU" dirty="0"/>
                        <a:t>Размерность модели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2048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978624"/>
                  </a:ext>
                </a:extLst>
              </a:tr>
              <a:tr h="551589">
                <a:tc>
                  <a:txBody>
                    <a:bodyPr/>
                    <a:lstStyle/>
                    <a:p>
                      <a:r>
                        <a:rPr lang="ru-RU" dirty="0"/>
                        <a:t>Текстов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100 000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691648"/>
                  </a:ext>
                </a:extLst>
              </a:tr>
              <a:tr h="551589">
                <a:tc>
                  <a:txBody>
                    <a:bodyPr/>
                    <a:lstStyle/>
                    <a:p>
                      <a:r>
                        <a:rPr lang="ru-RU" dirty="0"/>
                        <a:t>Активаций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45.2 млн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040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163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78BB0-D8D8-3B7E-AC10-71D19B0D3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0789BA52-B3F6-BD6E-C3C8-F520BFC80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1"/>
            <a:ext cx="6847289" cy="602236"/>
          </a:xfrm>
        </p:spPr>
        <p:txBody>
          <a:bodyPr>
            <a:normAutofit/>
          </a:bodyPr>
          <a:lstStyle/>
          <a:p>
            <a:r>
              <a:rPr lang="ru-RU" sz="2800" b="1" dirty="0"/>
              <a:t>Обучение </a:t>
            </a:r>
            <a:r>
              <a:rPr lang="en" sz="2800" b="1" dirty="0"/>
              <a:t>SAE</a:t>
            </a:r>
          </a:p>
        </p:txBody>
      </p:sp>
      <p:sp>
        <p:nvSpPr>
          <p:cNvPr id="2" name="Текст 13">
            <a:extLst>
              <a:ext uri="{FF2B5EF4-FFF2-40B4-BE49-F238E27FC236}">
                <a16:creationId xmlns:a16="http://schemas.microsoft.com/office/drawing/2014/main" id="{79D831F4-02A4-003E-9740-5B18EC48CF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EA431565-4C9C-4DB3-B845-2FD72C4D7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989391"/>
              </p:ext>
            </p:extLst>
          </p:nvPr>
        </p:nvGraphicFramePr>
        <p:xfrm>
          <a:off x="556400" y="2050029"/>
          <a:ext cx="4915252" cy="28464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7626">
                  <a:extLst>
                    <a:ext uri="{9D8B030D-6E8A-4147-A177-3AD203B41FA5}">
                      <a16:colId xmlns:a16="http://schemas.microsoft.com/office/drawing/2014/main" val="322703609"/>
                    </a:ext>
                  </a:extLst>
                </a:gridCol>
                <a:gridCol w="2457626">
                  <a:extLst>
                    <a:ext uri="{9D8B030D-6E8A-4147-A177-3AD203B41FA5}">
                      <a16:colId xmlns:a16="http://schemas.microsoft.com/office/drawing/2014/main" val="546690841"/>
                    </a:ext>
                  </a:extLst>
                </a:gridCol>
              </a:tblGrid>
              <a:tr h="551589">
                <a:tc>
                  <a:txBody>
                    <a:bodyPr/>
                    <a:lstStyle/>
                    <a:p>
                      <a:r>
                        <a:rPr lang="ru-RU" dirty="0"/>
                        <a:t>Архитектура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" dirty="0" err="1"/>
                        <a:t>StandardSAE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620875"/>
                  </a:ext>
                </a:extLst>
              </a:tr>
              <a:tr h="551589">
                <a:tc>
                  <a:txBody>
                    <a:bodyPr/>
                    <a:lstStyle/>
                    <a:p>
                      <a:r>
                        <a:rPr lang="ru-RU" dirty="0"/>
                        <a:t>Размерность словаря признаков </a:t>
                      </a:r>
                      <a:r>
                        <a:rPr lang="en-US" dirty="0"/>
                        <a:t>SAE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" dirty="0"/>
                        <a:t>32 768 (16x)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6440"/>
                  </a:ext>
                </a:extLst>
              </a:tr>
              <a:tr h="551589">
                <a:tc>
                  <a:txBody>
                    <a:bodyPr/>
                    <a:lstStyle/>
                    <a:p>
                      <a:r>
                        <a:rPr lang="ru-RU" dirty="0"/>
                        <a:t>Размерность модели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2048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978624"/>
                  </a:ext>
                </a:extLst>
              </a:tr>
              <a:tr h="551589">
                <a:tc>
                  <a:txBody>
                    <a:bodyPr/>
                    <a:lstStyle/>
                    <a:p>
                      <a:r>
                        <a:rPr lang="en-US" dirty="0" err="1"/>
                        <a:t>λ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для </a:t>
                      </a:r>
                      <a:r>
                        <a:rPr lang="en-US" dirty="0"/>
                        <a:t>L1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1e-3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691648"/>
                  </a:ext>
                </a:extLst>
              </a:tr>
              <a:tr h="551589">
                <a:tc>
                  <a:txBody>
                    <a:bodyPr/>
                    <a:lstStyle/>
                    <a:p>
                      <a:r>
                        <a:rPr lang="en-US" dirty="0"/>
                        <a:t>Learning rate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5e-5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156633"/>
                  </a:ext>
                </a:extLst>
              </a:tr>
            </a:tbl>
          </a:graphicData>
        </a:graphic>
      </p:graphicFrame>
      <p:sp>
        <p:nvSpPr>
          <p:cNvPr id="3" name="Shape 14">
            <a:extLst>
              <a:ext uri="{FF2B5EF4-FFF2-40B4-BE49-F238E27FC236}">
                <a16:creationId xmlns:a16="http://schemas.microsoft.com/office/drawing/2014/main" id="{957D9454-9328-64F5-090B-9A84B7939B5E}"/>
              </a:ext>
            </a:extLst>
          </p:cNvPr>
          <p:cNvSpPr/>
          <p:nvPr/>
        </p:nvSpPr>
        <p:spPr>
          <a:xfrm>
            <a:off x="6096000" y="2050027"/>
            <a:ext cx="5510102" cy="2200275"/>
          </a:xfrm>
          <a:prstGeom prst="roundRect">
            <a:avLst>
              <a:gd name="adj" fmla="val 6926"/>
            </a:avLst>
          </a:prstGeom>
          <a:solidFill>
            <a:srgbClr val="0F2C68"/>
          </a:solidFill>
          <a:ln/>
        </p:spPr>
      </p:sp>
      <p:sp>
        <p:nvSpPr>
          <p:cNvPr id="5" name="Text 15">
            <a:extLst>
              <a:ext uri="{FF2B5EF4-FFF2-40B4-BE49-F238E27FC236}">
                <a16:creationId xmlns:a16="http://schemas.microsoft.com/office/drawing/2014/main" id="{CA196460-D0F1-5922-75CA-4AA0BD9857E8}"/>
              </a:ext>
            </a:extLst>
          </p:cNvPr>
          <p:cNvSpPr/>
          <p:nvPr/>
        </p:nvSpPr>
        <p:spPr>
          <a:xfrm>
            <a:off x="7439289" y="2328413"/>
            <a:ext cx="30047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DB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 score (test)</a:t>
            </a:r>
            <a:endParaRPr lang="en-US" sz="1800" dirty="0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0E35AFB8-F6AB-A70D-85DE-FE286CAE232B}"/>
              </a:ext>
            </a:extLst>
          </p:cNvPr>
          <p:cNvSpPr/>
          <p:nvPr/>
        </p:nvSpPr>
        <p:spPr>
          <a:xfrm>
            <a:off x="7433187" y="2652263"/>
            <a:ext cx="301801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0.929</a:t>
            </a:r>
            <a:endParaRPr lang="en-US" sz="7200" dirty="0"/>
          </a:p>
        </p:txBody>
      </p:sp>
      <p:sp>
        <p:nvSpPr>
          <p:cNvPr id="8" name="Text 17">
            <a:extLst>
              <a:ext uri="{FF2B5EF4-FFF2-40B4-BE49-F238E27FC236}">
                <a16:creationId xmlns:a16="http://schemas.microsoft.com/office/drawing/2014/main" id="{51A66845-CA73-9E51-E6A7-40F2C0F27E35}"/>
              </a:ext>
            </a:extLst>
          </p:cNvPr>
          <p:cNvSpPr/>
          <p:nvPr/>
        </p:nvSpPr>
        <p:spPr>
          <a:xfrm>
            <a:off x="7731737" y="3623813"/>
            <a:ext cx="236120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9DB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обучении — 0.884</a:t>
            </a:r>
            <a:endParaRPr lang="en-US" sz="17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690BF2-62A2-245B-8D82-CB7D920CE08A}"/>
              </a:ext>
            </a:extLst>
          </p:cNvPr>
          <p:cNvSpPr txBox="1"/>
          <p:nvPr/>
        </p:nvSpPr>
        <p:spPr>
          <a:xfrm>
            <a:off x="6096000" y="4434800"/>
            <a:ext cx="579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L0 ≈ 18.7 </a:t>
            </a:r>
            <a:r>
              <a:rPr lang="ru-RU" dirty="0"/>
              <a:t>тыс. активных признаков из 32.8 тыс. </a:t>
            </a:r>
            <a:r>
              <a:rPr lang="en-US" dirty="0"/>
              <a:t>-</a:t>
            </a:r>
            <a:r>
              <a:rPr lang="ru-RU" dirty="0"/>
              <a:t> слабая разреженность, на токене активна почти половина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2578356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1D359-749E-161E-0770-E915F0498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F878FEBB-E503-0011-091C-C6B31C240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1"/>
            <a:ext cx="6847289" cy="602236"/>
          </a:xfrm>
        </p:spPr>
        <p:txBody>
          <a:bodyPr>
            <a:normAutofit/>
          </a:bodyPr>
          <a:lstStyle/>
          <a:p>
            <a:r>
              <a:rPr lang="ru-RU" sz="2800" b="1" dirty="0"/>
              <a:t>Интерпретация признаков</a:t>
            </a:r>
          </a:p>
        </p:txBody>
      </p:sp>
      <p:sp>
        <p:nvSpPr>
          <p:cNvPr id="2" name="Текст 13">
            <a:extLst>
              <a:ext uri="{FF2B5EF4-FFF2-40B4-BE49-F238E27FC236}">
                <a16:creationId xmlns:a16="http://schemas.microsoft.com/office/drawing/2014/main" id="{7395E843-E3C5-7A49-1B58-9A06F1C707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077852-8D69-815C-9525-88D9D3E76563}"/>
              </a:ext>
            </a:extLst>
          </p:cNvPr>
          <p:cNvSpPr txBox="1"/>
          <p:nvPr/>
        </p:nvSpPr>
        <p:spPr>
          <a:xfrm>
            <a:off x="585897" y="2228671"/>
            <a:ext cx="493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5000 признаков</a:t>
            </a:r>
          </a:p>
          <a:p>
            <a:r>
              <a:rPr lang="ru-RU" sz="2400" dirty="0"/>
              <a:t>15 фрагментов на каждый</a:t>
            </a:r>
          </a:p>
          <a:p>
            <a:r>
              <a:rPr lang="ru-RU" sz="2400" dirty="0"/>
              <a:t>метки от </a:t>
            </a:r>
            <a:r>
              <a:rPr lang="en" sz="2400" dirty="0"/>
              <a:t>LLM-as-a-Judge (Qwen)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6B97472-C414-7C05-B4BA-8327C1DDB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935" y="4269823"/>
            <a:ext cx="7368130" cy="1825537"/>
          </a:xfrm>
          <a:prstGeom prst="rect">
            <a:avLst/>
          </a:prstGeom>
        </p:spPr>
      </p:pic>
      <p:sp>
        <p:nvSpPr>
          <p:cNvPr id="28" name="Shape 10">
            <a:extLst>
              <a:ext uri="{FF2B5EF4-FFF2-40B4-BE49-F238E27FC236}">
                <a16:creationId xmlns:a16="http://schemas.microsoft.com/office/drawing/2014/main" id="{B782E113-A3C8-AC46-B4F7-C2A6FAC25DD3}"/>
              </a:ext>
            </a:extLst>
          </p:cNvPr>
          <p:cNvSpPr/>
          <p:nvPr/>
        </p:nvSpPr>
        <p:spPr>
          <a:xfrm>
            <a:off x="6096000" y="2219325"/>
            <a:ext cx="4059585" cy="1209675"/>
          </a:xfrm>
          <a:prstGeom prst="roundRect">
            <a:avLst>
              <a:gd name="adj" fmla="val 9449"/>
            </a:avLst>
          </a:prstGeom>
          <a:solidFill>
            <a:srgbClr val="F5F7F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3929D26D-5D40-C33A-07F6-2686CE305DCF}"/>
              </a:ext>
            </a:extLst>
          </p:cNvPr>
          <p:cNvSpPr/>
          <p:nvPr/>
        </p:nvSpPr>
        <p:spPr>
          <a:xfrm>
            <a:off x="6315075" y="2438400"/>
            <a:ext cx="39835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725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F122554B-F196-2B27-A067-5AD124BCA3EE}"/>
              </a:ext>
            </a:extLst>
          </p:cNvPr>
          <p:cNvSpPr/>
          <p:nvPr/>
        </p:nvSpPr>
        <p:spPr>
          <a:xfrm>
            <a:off x="6315075" y="2733675"/>
            <a:ext cx="398357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F2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0.566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3868370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A436D-DC2B-70D6-9270-EA50094E7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4138486A-993B-850F-CEFE-AA7D5ABCB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1"/>
            <a:ext cx="6847289" cy="602236"/>
          </a:xfrm>
        </p:spPr>
        <p:txBody>
          <a:bodyPr>
            <a:normAutofit/>
          </a:bodyPr>
          <a:lstStyle/>
          <a:p>
            <a:r>
              <a:rPr lang="en" sz="2800" b="1" dirty="0"/>
              <a:t>Feature steering</a:t>
            </a:r>
            <a:endParaRPr lang="ru-RU" sz="2800" b="1" dirty="0"/>
          </a:p>
        </p:txBody>
      </p:sp>
      <p:sp>
        <p:nvSpPr>
          <p:cNvPr id="2" name="Текст 13">
            <a:extLst>
              <a:ext uri="{FF2B5EF4-FFF2-40B4-BE49-F238E27FC236}">
                <a16:creationId xmlns:a16="http://schemas.microsoft.com/office/drawing/2014/main" id="{FF0EE52F-ECF3-1C32-ABFB-4C98E1C693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8859C-3251-0D14-7480-683A28B07A0B}"/>
              </a:ext>
            </a:extLst>
          </p:cNvPr>
          <p:cNvSpPr txBox="1"/>
          <p:nvPr/>
        </p:nvSpPr>
        <p:spPr>
          <a:xfrm>
            <a:off x="585896" y="2228671"/>
            <a:ext cx="99002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Признак 26928 («</a:t>
            </a:r>
            <a:r>
              <a:rPr lang="en" sz="2400" dirty="0"/>
              <a:t>Paris») </a:t>
            </a:r>
            <a:r>
              <a:rPr lang="ru-RU" sz="2400" dirty="0"/>
              <a:t>фиксируется по </a:t>
            </a:r>
            <a:r>
              <a:rPr lang="en" sz="2400" dirty="0"/>
              <a:t>activation clamping. </a:t>
            </a:r>
            <a:r>
              <a:rPr lang="ru-RU" sz="2400" dirty="0"/>
              <a:t>Запрос: «</a:t>
            </a:r>
            <a:r>
              <a:rPr lang="en" sz="2400" dirty="0"/>
              <a:t>The capital of Germany is …»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EBAD1D2-28CB-F5BE-49EE-BDB5A91BB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95" y="3429000"/>
            <a:ext cx="11063621" cy="137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11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A71BF-365A-F9DA-0E6F-823CEE54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688DD85D-0734-79C7-253F-86C2B909B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1"/>
            <a:ext cx="6847289" cy="602236"/>
          </a:xfrm>
        </p:spPr>
        <p:txBody>
          <a:bodyPr>
            <a:normAutofit/>
          </a:bodyPr>
          <a:lstStyle/>
          <a:p>
            <a:r>
              <a:rPr lang="ru-RU" sz="2800" b="1" dirty="0"/>
              <a:t>Выводы</a:t>
            </a:r>
          </a:p>
        </p:txBody>
      </p:sp>
      <p:sp>
        <p:nvSpPr>
          <p:cNvPr id="2" name="Текст 13">
            <a:extLst>
              <a:ext uri="{FF2B5EF4-FFF2-40B4-BE49-F238E27FC236}">
                <a16:creationId xmlns:a16="http://schemas.microsoft.com/office/drawing/2014/main" id="{92595CD3-8FFD-E036-D7F0-076920B947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64364"/>
            <a:ext cx="2380347" cy="448275"/>
          </a:xfrm>
        </p:spPr>
        <p:txBody>
          <a:bodyPr/>
          <a:lstStyle/>
          <a:p>
            <a:r>
              <a:rPr lang="ru-RU" dirty="0"/>
              <a:t>Интерпретируемость больших языковых моделей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35B77F6-3402-E9F3-1708-4F7BA7C4A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22" y="2050027"/>
            <a:ext cx="11403055" cy="196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71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F6F1939-09AD-43E1-8F36-7FC631FC8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10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6afe77-3acb-4328-97fc-408e1bde3ecd" xsi:nil="true"/>
    <lcf76f155ced4ddcb4097134ff3c332f xmlns="9875bd71-cde8-496c-a136-433f55d5e6d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8" ma:contentTypeDescription="Создание документа." ma:contentTypeScope="" ma:versionID="1a5cfb238914476ded5970f92b127504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0adbc20d4fbdbe3247a279c1a10fa71b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0f49e2ad-b3c7-4051-b79b-59f1dbf380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ca06070-6ad6-44db-a3bf-0d2f4389ef2b}" ma:internalName="TaxCatchAll" ma:showField="CatchAllData" ma:web="e96afe77-3acb-4328-97fc-408e1bde3e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e96afe77-3acb-4328-97fc-408e1bde3ecd"/>
    <ds:schemaRef ds:uri="http://schemas.openxmlformats.org/package/2006/metadata/core-properties"/>
    <ds:schemaRef ds:uri="9875bd71-cde8-496c-a136-433f55d5e6d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828536A-18C6-49CF-8D1D-F6AA6C1DA5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2227</Words>
  <Application>Microsoft Macintosh PowerPoint</Application>
  <PresentationFormat>Широкоэкранный</PresentationFormat>
  <Paragraphs>159</Paragraphs>
  <Slides>20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HSE Sans</vt:lpstr>
      <vt:lpstr>Office Theme</vt:lpstr>
      <vt:lpstr>Интерпретируемость больших языковых моделей </vt:lpstr>
      <vt:lpstr>Актуальность</vt:lpstr>
      <vt:lpstr>Цель и задачи работы</vt:lpstr>
      <vt:lpstr>Что такое признак и полисемантичность в рамках интерпретируемости</vt:lpstr>
      <vt:lpstr>Гипотеза суперпозиции</vt:lpstr>
      <vt:lpstr>Разреженные автоэнкодеры (SAE)</vt:lpstr>
      <vt:lpstr>Архитектура SAE</vt:lpstr>
      <vt:lpstr>Функция потерь и метрики качества</vt:lpstr>
      <vt:lpstr>Масштабирование на промышленные модели</vt:lpstr>
      <vt:lpstr>Признаки, связанные с безопасностью</vt:lpstr>
      <vt:lpstr>Признаки, связанные с безопасностью</vt:lpstr>
      <vt:lpstr>Признаки, связанные с безопасностью</vt:lpstr>
      <vt:lpstr>Признаки, связанные с безопасностью</vt:lpstr>
      <vt:lpstr>Feature steering: управление поведением</vt:lpstr>
      <vt:lpstr>Постановка эксперимента</vt:lpstr>
      <vt:lpstr>Обучение SAE</vt:lpstr>
      <vt:lpstr>Интерпретация признаков</vt:lpstr>
      <vt:lpstr>Feature steering</vt:lpstr>
      <vt:lpstr>Выводы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adpak</cp:lastModifiedBy>
  <cp:revision>20</cp:revision>
  <cp:lastPrinted>2021-11-11T13:08:42Z</cp:lastPrinted>
  <dcterms:created xsi:type="dcterms:W3CDTF">2021-11-11T08:52:47Z</dcterms:created>
  <dcterms:modified xsi:type="dcterms:W3CDTF">2026-06-26T13:33:07Z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  <property fmtid="{D5CDD505-2E9C-101B-9397-08002B2CF9AE}" pid="3" name="MediaServiceImageTags">
    <vt:lpwstr/>
  </property>
</Properties>
</file>